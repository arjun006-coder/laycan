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2F5F7"/>
                </a:solidFill>
                <a:latin typeface="Arial"/>
              </a:defRPr>
            </a:pPr>
            <a:r>
              <a:rPr sz="1200" b="0" i="0" u="none" strike="noStrike">
                <a:solidFill>
                  <a:srgbClr val="F2F5F7"/>
                </a:solidFill>
                <a:latin typeface="Arial"/>
              </a:rPr>
              <a:t>Reservation rate vs market, by days to laycan (illustrative)</a:t>
            </a:r>
          </a:p>
        </c:rich>
      </c:tx>
      <c:layout/>
      <c:overlay val="0"/>
    </c:title>
    <c:autoTitleDeleted val="0"/>
    <c:plotArea>
      <c:layout/>
      <c:lineChart>
        <c:varyColors val="0"/>
        <c:ser>
          <c:idx val="0"/>
          <c:order val="0"/>
          <c:tx>
            <c:strRef>
              <c:f>Sheet1!$B$1</c:f>
              <c:strCache>
                <c:ptCount val="1"/>
                <c:pt idx="0">
                  <c:v>Reservation rate R*</c:v>
                </c:pt>
              </c:strCache>
            </c:strRef>
          </c:tx>
          <c:spPr>
            <a:solidFill>
              <a:srgbClr val="FF8A3D"/>
            </a:solidFill>
            <a:ln w="38100" cap="flat">
              <a:solidFill>
                <a:srgbClr val="FF8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8A3D"/>
              </a:solidFill>
              <a:ln w="9525" cap="flat">
                <a:solidFill>
                  <a:srgbClr val="FF8A3D"/>
                </a:solidFill>
                <a:prstDash val="solid"/>
                <a:round/>
              </a:ln>
              <a:effectLst/>
            </c:spPr>
          </c:marker>
          <c:cat>
            <c:multiLvlStrRef>
              <c:f>Sheet1!$A$2:$A$11</c:f>
              <c:multiLvlStrCache>
                <c:ptCount val="10"/>
                <c:lvl>
                  <c:pt idx="0">
                    <c:v>45</c:v>
                  </c:pt>
                  <c:pt idx="1">
                    <c:v>40</c:v>
                  </c:pt>
                  <c:pt idx="2">
                    <c:v>35</c:v>
                  </c:pt>
                  <c:pt idx="3">
                    <c:v>30</c:v>
                  </c:pt>
                  <c:pt idx="4">
                    <c:v>25</c:v>
                  </c:pt>
                  <c:pt idx="5">
                    <c:v>20</c:v>
                  </c:pt>
                  <c:pt idx="6">
                    <c:v>15</c:v>
                  </c:pt>
                  <c:pt idx="7">
                    <c:v>10</c:v>
                  </c:pt>
                  <c:pt idx="8">
                    <c:v>5</c:v>
                  </c:pt>
                  <c:pt idx="9">
                    <c:v>0</c:v>
                  </c:pt>
                </c:lvl>
              </c:multiLvlStrCache>
            </c:multiLvlStrRef>
          </c:cat>
          <c:val>
            <c:numRef>
              <c:f>Sheet1!$B$2:$B$11</c:f>
              <c:numCache>
                <c:formatCode>General</c:formatCode>
                <c:ptCount val="10"/>
                <c:pt idx="0">
                  <c:v>20.4</c:v>
                </c:pt>
                <c:pt idx="1">
                  <c:v>20.6</c:v>
                </c:pt>
                <c:pt idx="2">
                  <c:v>20.9</c:v>
                </c:pt>
                <c:pt idx="3">
                  <c:v>21.2</c:v>
                </c:pt>
                <c:pt idx="4">
                  <c:v>21.6</c:v>
                </c:pt>
                <c:pt idx="5">
                  <c:v>22.1</c:v>
                </c:pt>
                <c:pt idx="6">
                  <c:v>22.6</c:v>
                </c:pt>
                <c:pt idx="7">
                  <c:v>23.3</c:v>
                </c:pt>
                <c:pt idx="8">
                  <c:v>24.1</c:v>
                </c:pt>
                <c:pt idx="9">
                  <c:v>25.2</c:v>
                </c:pt>
              </c:numCache>
            </c:numRef>
          </c:val>
          <c:smooth val="0"/>
        </c:ser>
        <c:ser>
          <c:idx val="1"/>
          <c:order val="1"/>
          <c:tx>
            <c:strRef>
              <c:f>Sheet1!$C$1</c:f>
              <c:strCache>
                <c:ptCount val="1"/>
                <c:pt idx="0">
                  <c:v>Market rate</c:v>
                </c:pt>
              </c:strCache>
            </c:strRef>
          </c:tx>
          <c:spPr>
            <a:solidFill>
              <a:srgbClr val="4FD1C5"/>
            </a:solidFill>
            <a:ln w="38100" cap="flat">
              <a:solidFill>
                <a:srgbClr val="4FD1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FD1C5"/>
              </a:solidFill>
              <a:ln w="9525" cap="flat">
                <a:solidFill>
                  <a:srgbClr val="4FD1C5"/>
                </a:solidFill>
                <a:prstDash val="solid"/>
                <a:round/>
              </a:ln>
              <a:effectLst/>
            </c:spPr>
          </c:marker>
          <c:cat>
            <c:multiLvlStrRef>
              <c:f>Sheet1!$A$2:$A$11</c:f>
              <c:multiLvlStrCache>
                <c:ptCount val="10"/>
                <c:lvl>
                  <c:pt idx="0">
                    <c:v>45</c:v>
                  </c:pt>
                  <c:pt idx="1">
                    <c:v>40</c:v>
                  </c:pt>
                  <c:pt idx="2">
                    <c:v>35</c:v>
                  </c:pt>
                  <c:pt idx="3">
                    <c:v>30</c:v>
                  </c:pt>
                  <c:pt idx="4">
                    <c:v>25</c:v>
                  </c:pt>
                  <c:pt idx="5">
                    <c:v>20</c:v>
                  </c:pt>
                  <c:pt idx="6">
                    <c:v>15</c:v>
                  </c:pt>
                  <c:pt idx="7">
                    <c:v>10</c:v>
                  </c:pt>
                  <c:pt idx="8">
                    <c:v>5</c:v>
                  </c:pt>
                  <c:pt idx="9">
                    <c:v>0</c:v>
                  </c:pt>
                </c:lvl>
              </c:multiLvlStrCache>
            </c:multiLvlStrRef>
          </c:cat>
          <c:val>
            <c:numRef>
              <c:f>Sheet1!$C$2:$C$11</c:f>
              <c:numCache>
                <c:formatCode>General</c:formatCode>
                <c:ptCount val="10"/>
                <c:pt idx="0">
                  <c:v>24.2</c:v>
                </c:pt>
                <c:pt idx="1">
                  <c:v>23.8</c:v>
                </c:pt>
                <c:pt idx="2">
                  <c:v>23.4</c:v>
                </c:pt>
                <c:pt idx="3">
                  <c:v>23.1</c:v>
                </c:pt>
                <c:pt idx="4">
                  <c:v>22.4</c:v>
                </c:pt>
                <c:pt idx="5">
                  <c:v>22.6</c:v>
                </c:pt>
                <c:pt idx="6">
                  <c:v>21.9</c:v>
                </c:pt>
                <c:pt idx="7">
                  <c:v>21.2</c:v>
                </c:pt>
                <c:pt idx="8">
                  <c:v>21.5</c:v>
                </c:pt>
                <c:pt idx="9">
                  <c:v>21.8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C6D7A"/>
                    </a:solidFill>
                    <a:latin typeface="Arial"/>
                  </a:defRPr>
                </a:pPr>
                <a:r>
                  <a:rPr sz="1000" b="0" i="0" u="none" strike="noStrike">
                    <a:solidFill>
                      <a:srgbClr val="5C6D7A"/>
                    </a:solidFill>
                    <a:latin typeface="Arial"/>
                  </a:rPr>
                  <a:t>days to laycan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9BA8"/>
                </a:solidFill>
                <a:latin typeface="Arial"/>
              </a:defRPr>
            </a:pPr>
            <a:endParaRPr lang="en-US"/>
          </a:p>
        </c:txPr>
        <c:crossAx val="2094734552"/>
        <c:crosses val="autoZero"/>
        <c:auto val="1"/>
        <c:lblAlgn val="ctr"/>
        <c:noMultiLvlLbl val="1"/>
      </c:catAx>
      <c:valAx>
        <c:axId val="2094734552"/>
        <c:scaling>
          <c:orientation val="minMax"/>
          <c:min val="20"/>
        </c:scaling>
        <c:delete val="0"/>
        <c:axPos val="l"/>
        <c:majorGridlines>
          <c:spPr>
            <a:ln w="12700" cap="flat">
              <a:solidFill>
                <a:srgbClr val="2A3742"/>
              </a:solidFill>
              <a:prstDash val="solid"/>
              <a:round/>
            </a:ln>
          </c:spPr>
        </c:majorGridlines>
        <c:title>
          <c:tx>
            <c:rich>
              <a:bodyPr/>
              <a:lstStyle/>
              <a:p>
                <a:pPr>
                  <a:defRPr sz="1000" b="0" i="0" u="none" strike="noStrike">
                    <a:solidFill>
                      <a:srgbClr val="5C6D7A"/>
                    </a:solidFill>
                    <a:latin typeface="Arial"/>
                  </a:defRPr>
                </a:pPr>
                <a:r>
                  <a:rPr sz="1000" b="0" i="0" u="none" strike="noStrike">
                    <a:solidFill>
                      <a:srgbClr val="5C6D7A"/>
                    </a:solidFill>
                    <a:latin typeface="Arial"/>
                  </a:rPr>
                  <a:t>$/mt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BA8"/>
                </a:solidFill>
                <a:latin typeface="Arial"/>
              </a:defRPr>
            </a:pPr>
            <a:endParaRPr lang="en-US"/>
          </a:p>
        </c:txPr>
        <c:crossAx val="2094734554"/>
        <c:crosses val="autoZero"/>
        <c:crossBetween val="between"/>
      </c:valAx>
      <c:spPr>
        <a:solidFill>
          <a:srgbClr val="18222B"/>
        </a:solidFill>
        <a:ln>
          <a:noFill/>
        </a:ln>
        <a:effectLst/>
      </c:spPr>
    </c:plotArea>
    <c:legend>
      <c:legendPos val="b"/>
      <c:overlay val="0"/>
      <c:txPr>
        <a:bodyPr/>
        <a:lstStyle/>
        <a:p>
          <a:pPr>
            <a:defRPr sz="1000">
              <a:solidFill>
                <a:srgbClr val="8A9BA8"/>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2F5F7"/>
                </a:solidFill>
                <a:latin typeface="Arial"/>
              </a:defRPr>
            </a:pPr>
            <a:r>
              <a:rPr sz="1200" b="0" i="0" u="none" strike="noStrike">
                <a:solidFill>
                  <a:srgbClr val="F2F5F7"/>
                </a:solidFill>
                <a:latin typeface="Arial"/>
              </a:rPr>
              <a:t>Cost vs tail risk, by share of volume on term cover (illustrative)</a:t>
            </a:r>
          </a:p>
        </c:rich>
      </c:tx>
      <c:layout/>
      <c:overlay val="0"/>
    </c:title>
    <c:autoTitleDeleted val="0"/>
    <c:plotArea>
      <c:layout/>
      <c:lineChart>
        <c:varyColors val="0"/>
        <c:ser>
          <c:idx val="0"/>
          <c:order val="0"/>
          <c:tx>
            <c:strRef>
              <c:f>Sheet1!$B$1</c:f>
              <c:strCache>
                <c:ptCount val="1"/>
                <c:pt idx="0">
                  <c:v>Expected cost $/mt</c:v>
                </c:pt>
              </c:strCache>
            </c:strRef>
          </c:tx>
          <c:spPr>
            <a:solidFill>
              <a:srgbClr val="4FD1C5"/>
            </a:solidFill>
            <a:ln w="38100" cap="flat">
              <a:solidFill>
                <a:srgbClr val="4FD1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D1C5"/>
              </a:solidFill>
              <a:ln w="9525" cap="flat">
                <a:solidFill>
                  <a:srgbClr val="4FD1C5"/>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Sheet1!$B$2:$B$7</c:f>
              <c:numCache>
                <c:formatCode>General</c:formatCode>
                <c:ptCount val="6"/>
                <c:pt idx="0">
                  <c:v>22.9</c:v>
                </c:pt>
                <c:pt idx="1">
                  <c:v>22.6</c:v>
                </c:pt>
                <c:pt idx="2">
                  <c:v>22.35</c:v>
                </c:pt>
                <c:pt idx="3">
                  <c:v>22.2</c:v>
                </c:pt>
                <c:pt idx="4">
                  <c:v>22.15</c:v>
                </c:pt>
                <c:pt idx="5">
                  <c:v>22.1</c:v>
                </c:pt>
              </c:numCache>
            </c:numRef>
          </c:val>
          <c:smooth val="0"/>
        </c:ser>
        <c:ser>
          <c:idx val="1"/>
          <c:order val="1"/>
          <c:tx>
            <c:strRef>
              <c:f>Sheet1!$C$1</c:f>
              <c:strCache>
                <c:ptCount val="1"/>
                <c:pt idx="0">
                  <c:v>95% CVaR $/mt</c:v>
                </c:pt>
              </c:strCache>
            </c:strRef>
          </c:tx>
          <c:spPr>
            <a:solidFill>
              <a:srgbClr val="FF8A3D"/>
            </a:solidFill>
            <a:ln w="38100" cap="flat">
              <a:solidFill>
                <a:srgbClr val="FF8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8A3D"/>
              </a:solidFill>
              <a:ln w="9525" cap="flat">
                <a:solidFill>
                  <a:srgbClr val="FF8A3D"/>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Sheet1!$C$2:$C$7</c:f>
              <c:numCache>
                <c:formatCode>General</c:formatCode>
                <c:ptCount val="6"/>
                <c:pt idx="0">
                  <c:v>28.4</c:v>
                </c:pt>
                <c:pt idx="1">
                  <c:v>27.1</c:v>
                </c:pt>
                <c:pt idx="2">
                  <c:v>25.9</c:v>
                </c:pt>
                <c:pt idx="3">
                  <c:v>25.1</c:v>
                </c:pt>
                <c:pt idx="4">
                  <c:v>25.4</c:v>
                </c:pt>
                <c:pt idx="5">
                  <c:v>26.8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9BA8"/>
                </a:solidFill>
                <a:latin typeface="Arial"/>
              </a:defRPr>
            </a:pPr>
            <a:endParaRPr lang="en-US"/>
          </a:p>
        </c:txPr>
        <c:crossAx val="2094734552"/>
        <c:crosses val="autoZero"/>
        <c:auto val="1"/>
        <c:lblAlgn val="ctr"/>
        <c:noMultiLvlLbl val="1"/>
      </c:catAx>
      <c:valAx>
        <c:axId val="2094734552"/>
        <c:scaling>
          <c:orientation val="minMax"/>
          <c:min val="20"/>
        </c:scaling>
        <c:delete val="0"/>
        <c:axPos val="l"/>
        <c:majorGridlines>
          <c:spPr>
            <a:ln w="12700" cap="flat">
              <a:solidFill>
                <a:srgbClr val="2A374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BA8"/>
                </a:solidFill>
                <a:latin typeface="Arial"/>
              </a:defRPr>
            </a:pPr>
            <a:endParaRPr lang="en-US"/>
          </a:p>
        </c:txPr>
        <c:crossAx val="2094734554"/>
        <c:crosses val="autoZero"/>
        <c:crossBetween val="between"/>
      </c:valAx>
      <c:spPr>
        <a:solidFill>
          <a:srgbClr val="18222B"/>
        </a:solidFill>
        <a:ln>
          <a:noFill/>
        </a:ln>
        <a:effectLst/>
      </c:spPr>
    </c:plotArea>
    <c:legend>
      <c:legendPos val="b"/>
      <c:overlay val="0"/>
      <c:txPr>
        <a:bodyPr/>
        <a:lstStyle/>
        <a:p>
          <a:pPr>
            <a:defRPr sz="1000">
              <a:solidFill>
                <a:srgbClr val="8A9BA8"/>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freight paid $/mt</c:v>
                </c:pt>
              </c:strCache>
            </c:strRef>
          </c:tx>
          <c:spPr>
            <a:solidFill>
              <a:srgbClr val="5C6D7A"/>
            </a:solidFill>
            <a:effectLst/>
          </c:spPr>
          <c:invertIfNegative val="0"/>
          <c:dLbls>
            <c:numFmt formatCode="$0.00" sourceLinked="0"/>
            <c:txPr>
              <a:bodyPr/>
              <a:lstStyle/>
              <a:p>
                <a:pPr>
                  <a:defRPr b="0" i="0" strike="noStrike" sz="1300" u="none">
                    <a:solidFill>
                      <a:srgbClr val="F2F5F7"/>
                    </a:solidFill>
                    <a:latin typeface="Courier New"/>
                  </a:defRPr>
                </a:pPr>
              </a:p>
            </c:txPr>
            <c:showLegendKey val="0"/>
            <c:showVal val="1"/>
            <c:showCatName val="0"/>
            <c:showSerName val="0"/>
            <c:showPercent val="0"/>
            <c:showBubbleSize val="0"/>
            <c:showLeaderLines val="0"/>
          </c:dLbls>
          <c:dPt>
            <c:idx val="0"/>
            <c:invertIfNegative val="0"/>
            <c:bubble3D val="0"/>
            <c:spPr>
              <a:solidFill>
                <a:srgbClr val="5C6D7A"/>
              </a:solidFill>
              <a:effectLst/>
            </c:spPr>
          </c:dPt>
          <c:dPt>
            <c:idx val="1"/>
            <c:invertIfNegative val="0"/>
            <c:bubble3D val="0"/>
            <c:spPr>
              <a:solidFill>
                <a:srgbClr val="FF8A3D"/>
              </a:solidFill>
              <a:effectLst/>
            </c:spPr>
          </c:dPt>
          <c:dPt>
            <c:idx val="2"/>
            <c:invertIfNegative val="0"/>
            <c:bubble3D val="0"/>
            <c:spPr>
              <a:solidFill>
                <a:srgbClr val="4FD1C5"/>
              </a:solidFill>
              <a:effectLst/>
            </c:spPr>
          </c:dPt>
          <c:cat>
            <c:multiLvlStrRef>
              <c:f>Sheet1!$A$2:$A$4</c:f>
              <c:multiLvlStrCache>
                <c:ptCount val="3"/>
                <c:lvl>
                  <c:pt idx="0">
                    <c:v>Naive buyer
(status quo)</c:v>
                  </c:pt>
                  <c:pt idx="1">
                    <c:v>LAYCAN policy</c:v>
                  </c:pt>
                  <c:pt idx="2">
                    <c:v>Oracle
(perfect hindsight)</c:v>
                  </c:pt>
                </c:lvl>
              </c:multiLvlStrCache>
            </c:multiLvlStrRef>
          </c:cat>
          <c:val>
            <c:numRef>
              <c:f>Sheet1!$B$2:$B$4</c:f>
              <c:numCache>
                <c:formatCode>General</c:formatCode>
                <c:ptCount val="3"/>
                <c:pt idx="0">
                  <c:v>23.8</c:v>
                </c:pt>
                <c:pt idx="1">
                  <c:v>22.35</c:v>
                </c:pt>
                <c:pt idx="2">
                  <c:v>20.9</c:v>
                </c:pt>
              </c:numCache>
            </c:numRef>
          </c:val>
        </c:ser>
        <c:dLbls>
          <c:numFmt formatCode="$0.00" sourceLinked="0"/>
          <c:txPr>
            <a:bodyPr/>
            <a:lstStyle/>
            <a:p>
              <a:pPr>
                <a:defRPr b="0" i="0" strike="noStrike" sz="1300" u="none">
                  <a:solidFill>
                    <a:srgbClr val="F2F5F7"/>
                  </a:solidFill>
                  <a:latin typeface="Courier New"/>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9BA8"/>
                </a:solidFill>
                <a:latin typeface="Arial"/>
              </a:defRPr>
            </a:pPr>
            <a:endParaRPr lang="en-US"/>
          </a:p>
        </c:txPr>
        <c:crossAx val="2094734552"/>
        <c:crosses val="autoZero"/>
        <c:auto val="1"/>
        <c:lblAlgn val="ctr"/>
        <c:noMultiLvlLbl val="1"/>
      </c:catAx>
      <c:valAx>
        <c:axId val="2094734552"/>
        <c:scaling>
          <c:orientation val="minMax"/>
          <c:max val="25"/>
          <c:min val="18"/>
        </c:scaling>
        <c:delete val="0"/>
        <c:axPos val="l"/>
        <c:majorGridlines>
          <c:spPr>
            <a:ln w="12700" cap="flat">
              <a:solidFill>
                <a:srgbClr val="2A374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BA8"/>
                </a:solidFill>
                <a:latin typeface="Arial"/>
              </a:defRPr>
            </a:pPr>
            <a:endParaRPr lang="en-US"/>
          </a:p>
        </c:txPr>
        <c:crossAx val="2094734554"/>
        <c:crosses val="autoZero"/>
        <c:crossBetween val="between"/>
      </c:valAx>
      <c:spPr>
        <a:solidFill>
          <a:srgbClr val="18222B"/>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reframe, not the problem. 'We were asked for a freight forecasting model. We're going to argue that's the wrong product — and show you what a bulk importer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not a list of complaints — each one becomes a module in the product.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pitch. Deliver it slowly and with confidence. Conceding that forecasting is hard is what buys you credibility for everything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a product a company pays for. The left is a homework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moment of the whole pitch. Do not rush it. This is the layer outsiders always get wrong, and a shipping person in the room will lean forward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line from this deck, it is the red one. This is what lets a procurement head sign off on our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that knows when to shut up is more trustworthy than one that is always sure. Demo the Critic firing live — it lands better than any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market line crosses below the reservation line, we fix. Point at the crossing.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closes. If the backtest doesn't beat naive, say so honestly and pivot the pitch to the constraint and hedging value, which doesn't depend on timing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proactively, before anyone asks. Volunteering a measured limitation is the strongest signal that your other numbers weren't chosen to flatter.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matters. Do not try to start at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148840"/>
            <a:ext cx="7315200" cy="1005840"/>
          </a:xfrm>
          <a:prstGeom prst="rect">
            <a:avLst/>
          </a:prstGeom>
          <a:noFill/>
          <a:ln/>
        </p:spPr>
        <p:txBody>
          <a:bodyPr wrap="square" lIns="0" tIns="0" rIns="0" bIns="0" rtlCol="0" anchor="ctr"/>
          <a:lstStyle/>
          <a:p>
            <a:pPr indent="0" marL="0">
              <a:buNone/>
            </a:pPr>
            <a:r>
              <a:rPr lang="en-US" sz="6800" b="1" spc="300" kern="0" dirty="0">
                <a:solidFill>
                  <a:srgbClr val="F2F5F7"/>
                </a:solidFill>
                <a:latin typeface="Arial" pitchFamily="34" charset="0"/>
                <a:ea typeface="Arial" pitchFamily="34" charset="-122"/>
                <a:cs typeface="Arial" pitchFamily="34" charset="-120"/>
              </a:rPr>
              <a:t>LAYCAN</a:t>
            </a:r>
            <a:endParaRPr lang="en-US" sz="6800" dirty="0"/>
          </a:p>
        </p:txBody>
      </p:sp>
      <p:sp>
        <p:nvSpPr>
          <p:cNvPr id="3" name="Text 1"/>
          <p:cNvSpPr txBox="1"/>
          <p:nvPr/>
        </p:nvSpPr>
        <p:spPr>
          <a:xfrm>
            <a:off x="548640" y="3200400"/>
            <a:ext cx="7863840" cy="457200"/>
          </a:xfrm>
          <a:prstGeom prst="rect">
            <a:avLst/>
          </a:prstGeom>
          <a:noFill/>
          <a:ln/>
        </p:spPr>
        <p:txBody>
          <a:bodyPr wrap="square" lIns="0" tIns="0" rIns="0" bIns="0" rtlCol="0" anchor="ctr"/>
          <a:lstStyle/>
          <a:p>
            <a:pPr indent="0" marL="0">
              <a:buNone/>
            </a:pPr>
            <a:r>
              <a:rPr lang="en-US" sz="2000" dirty="0">
                <a:solidFill>
                  <a:srgbClr val="FF8A3D"/>
                </a:solidFill>
                <a:latin typeface="Arial" pitchFamily="34" charset="0"/>
                <a:ea typeface="Arial" pitchFamily="34" charset="-122"/>
                <a:cs typeface="Arial" pitchFamily="34" charset="-120"/>
              </a:rPr>
              <a:t>A freight decision engine for bulk cargo importers.</a:t>
            </a:r>
            <a:endParaRPr lang="en-US" sz="2000" dirty="0"/>
          </a:p>
        </p:txBody>
      </p:sp>
      <p:sp>
        <p:nvSpPr>
          <p:cNvPr id="4" name="Text 2"/>
          <p:cNvSpPr txBox="1"/>
          <p:nvPr/>
        </p:nvSpPr>
        <p:spPr>
          <a:xfrm>
            <a:off x="548640" y="3703320"/>
            <a:ext cx="7498080" cy="457200"/>
          </a:xfrm>
          <a:prstGeom prst="rect">
            <a:avLst/>
          </a:prstGeom>
          <a:noFill/>
          <a:ln/>
        </p:spPr>
        <p:txBody>
          <a:bodyPr wrap="square" lIns="0" tIns="0" rIns="0" bIns="0" rtlCol="0" anchor="ctr"/>
          <a:lstStyle/>
          <a:p>
            <a:pPr indent="0" marL="0">
              <a:buNone/>
            </a:pPr>
            <a:r>
              <a:rPr lang="en-US" sz="1450" i="1" dirty="0">
                <a:solidFill>
                  <a:srgbClr val="8A9BA8"/>
                </a:solidFill>
                <a:latin typeface="Arial" pitchFamily="34" charset="0"/>
                <a:ea typeface="Arial" pitchFamily="34" charset="-122"/>
                <a:cs typeface="Arial" pitchFamily="34" charset="-120"/>
              </a:rPr>
              <a:t>Freight stops being a daily purchase and becomes a managed position.</a:t>
            </a:r>
            <a:endParaRPr lang="en-US" sz="1450" dirty="0"/>
          </a:p>
        </p:txBody>
      </p:sp>
      <p:sp>
        <p:nvSpPr>
          <p:cNvPr id="5" name="Shape 3"/>
          <p:cNvSpPr/>
          <p:nvPr/>
        </p:nvSpPr>
        <p:spPr>
          <a:xfrm>
            <a:off x="8503920" y="2148840"/>
            <a:ext cx="3108960" cy="2011680"/>
          </a:xfrm>
          <a:prstGeom prst="roundRect">
            <a:avLst>
              <a:gd name="adj" fmla="val 2727"/>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732520" y="2331720"/>
            <a:ext cx="822960" cy="274320"/>
          </a:xfrm>
          <a:prstGeom prst="rect">
            <a:avLst/>
          </a:prstGeom>
          <a:noFill/>
          <a:ln/>
        </p:spPr>
        <p:txBody>
          <a:bodyPr wrap="square" lIns="0" tIns="0" rIns="0" bIns="0" rtlCol="0" anchor="ctr"/>
          <a:lstStyle/>
          <a:p>
            <a:pPr indent="0" marL="0">
              <a:buNone/>
            </a:pPr>
            <a:r>
              <a:rPr lang="en-US" sz="950" dirty="0">
                <a:solidFill>
                  <a:srgbClr val="5C6D7A"/>
                </a:solidFill>
                <a:latin typeface="Courier New" pitchFamily="34" charset="0"/>
                <a:ea typeface="Courier New" pitchFamily="34" charset="-122"/>
                <a:cs typeface="Courier New" pitchFamily="34" charset="-120"/>
              </a:rPr>
              <a:t>PS ID</a:t>
            </a:r>
            <a:endParaRPr lang="en-US" sz="950" dirty="0"/>
          </a:p>
        </p:txBody>
      </p:sp>
      <p:sp>
        <p:nvSpPr>
          <p:cNvPr id="7" name="Text 5"/>
          <p:cNvSpPr txBox="1"/>
          <p:nvPr/>
        </p:nvSpPr>
        <p:spPr>
          <a:xfrm>
            <a:off x="9601200" y="2313432"/>
            <a:ext cx="1828800" cy="292608"/>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26006</a:t>
            </a:r>
            <a:endParaRPr lang="en-US" sz="1100" dirty="0"/>
          </a:p>
        </p:txBody>
      </p:sp>
      <p:sp>
        <p:nvSpPr>
          <p:cNvPr id="8" name="Text 6"/>
          <p:cNvSpPr txBox="1"/>
          <p:nvPr/>
        </p:nvSpPr>
        <p:spPr>
          <a:xfrm>
            <a:off x="8732520" y="2788920"/>
            <a:ext cx="822960" cy="274320"/>
          </a:xfrm>
          <a:prstGeom prst="rect">
            <a:avLst/>
          </a:prstGeom>
          <a:noFill/>
          <a:ln/>
        </p:spPr>
        <p:txBody>
          <a:bodyPr wrap="square" lIns="0" tIns="0" rIns="0" bIns="0" rtlCol="0" anchor="ctr"/>
          <a:lstStyle/>
          <a:p>
            <a:pPr indent="0" marL="0">
              <a:buNone/>
            </a:pPr>
            <a:r>
              <a:rPr lang="en-US" sz="950" dirty="0">
                <a:solidFill>
                  <a:srgbClr val="5C6D7A"/>
                </a:solidFill>
                <a:latin typeface="Courier New" pitchFamily="34" charset="0"/>
                <a:ea typeface="Courier New" pitchFamily="34" charset="-122"/>
                <a:cs typeface="Courier New" pitchFamily="34" charset="-120"/>
              </a:rPr>
              <a:t>ORG</a:t>
            </a:r>
            <a:endParaRPr lang="en-US" sz="950" dirty="0"/>
          </a:p>
        </p:txBody>
      </p:sp>
      <p:sp>
        <p:nvSpPr>
          <p:cNvPr id="9" name="Text 7"/>
          <p:cNvSpPr txBox="1"/>
          <p:nvPr/>
        </p:nvSpPr>
        <p:spPr>
          <a:xfrm>
            <a:off x="9601200" y="2770632"/>
            <a:ext cx="1828800" cy="292608"/>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Ministry of Steel</a:t>
            </a:r>
            <a:endParaRPr lang="en-US" sz="1100" dirty="0"/>
          </a:p>
        </p:txBody>
      </p:sp>
      <p:sp>
        <p:nvSpPr>
          <p:cNvPr id="10" name="Text 8"/>
          <p:cNvSpPr txBox="1"/>
          <p:nvPr/>
        </p:nvSpPr>
        <p:spPr>
          <a:xfrm>
            <a:off x="8732520" y="3246120"/>
            <a:ext cx="822960" cy="274320"/>
          </a:xfrm>
          <a:prstGeom prst="rect">
            <a:avLst/>
          </a:prstGeom>
          <a:noFill/>
          <a:ln/>
        </p:spPr>
        <p:txBody>
          <a:bodyPr wrap="square" lIns="0" tIns="0" rIns="0" bIns="0" rtlCol="0" anchor="ctr"/>
          <a:lstStyle/>
          <a:p>
            <a:pPr indent="0" marL="0">
              <a:buNone/>
            </a:pPr>
            <a:r>
              <a:rPr lang="en-US" sz="950" dirty="0">
                <a:solidFill>
                  <a:srgbClr val="5C6D7A"/>
                </a:solidFill>
                <a:latin typeface="Courier New" pitchFamily="34" charset="0"/>
                <a:ea typeface="Courier New" pitchFamily="34" charset="-122"/>
                <a:cs typeface="Courier New" pitchFamily="34" charset="-120"/>
              </a:rPr>
              <a:t>DEPT</a:t>
            </a:r>
            <a:endParaRPr lang="en-US" sz="950" dirty="0"/>
          </a:p>
        </p:txBody>
      </p:sp>
      <p:sp>
        <p:nvSpPr>
          <p:cNvPr id="11" name="Text 9"/>
          <p:cNvSpPr txBox="1"/>
          <p:nvPr/>
        </p:nvSpPr>
        <p:spPr>
          <a:xfrm>
            <a:off x="9601200" y="3227832"/>
            <a:ext cx="1828800" cy="292608"/>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SAIL</a:t>
            </a:r>
            <a:endParaRPr lang="en-US" sz="1100" dirty="0"/>
          </a:p>
        </p:txBody>
      </p:sp>
      <p:sp>
        <p:nvSpPr>
          <p:cNvPr id="12" name="Text 10"/>
          <p:cNvSpPr txBox="1"/>
          <p:nvPr/>
        </p:nvSpPr>
        <p:spPr>
          <a:xfrm>
            <a:off x="8732520" y="3703320"/>
            <a:ext cx="822960" cy="274320"/>
          </a:xfrm>
          <a:prstGeom prst="rect">
            <a:avLst/>
          </a:prstGeom>
          <a:noFill/>
          <a:ln/>
        </p:spPr>
        <p:txBody>
          <a:bodyPr wrap="square" lIns="0" tIns="0" rIns="0" bIns="0" rtlCol="0" anchor="ctr"/>
          <a:lstStyle/>
          <a:p>
            <a:pPr indent="0" marL="0">
              <a:buNone/>
            </a:pPr>
            <a:r>
              <a:rPr lang="en-US" sz="950" dirty="0">
                <a:solidFill>
                  <a:srgbClr val="5C6D7A"/>
                </a:solidFill>
                <a:latin typeface="Courier New" pitchFamily="34" charset="0"/>
                <a:ea typeface="Courier New" pitchFamily="34" charset="-122"/>
                <a:cs typeface="Courier New" pitchFamily="34" charset="-120"/>
              </a:rPr>
              <a:t>THEME</a:t>
            </a:r>
            <a:endParaRPr lang="en-US" sz="950" dirty="0"/>
          </a:p>
        </p:txBody>
      </p:sp>
      <p:sp>
        <p:nvSpPr>
          <p:cNvPr id="13" name="Text 11"/>
          <p:cNvSpPr txBox="1"/>
          <p:nvPr/>
        </p:nvSpPr>
        <p:spPr>
          <a:xfrm>
            <a:off x="9601200" y="3685032"/>
            <a:ext cx="1828800" cy="292608"/>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Transport &amp; Logistics</a:t>
            </a:r>
            <a:endParaRPr lang="en-US" sz="1100" dirty="0"/>
          </a:p>
        </p:txBody>
      </p:sp>
      <p:sp>
        <p:nvSpPr>
          <p:cNvPr id="14" name="Text 12"/>
          <p:cNvSpPr txBox="1"/>
          <p:nvPr/>
        </p:nvSpPr>
        <p:spPr>
          <a:xfrm>
            <a:off x="548640" y="1371600"/>
            <a:ext cx="5486400" cy="274320"/>
          </a:xfrm>
          <a:prstGeom prst="rect">
            <a:avLst/>
          </a:prstGeom>
          <a:noFill/>
          <a:ln/>
        </p:spPr>
        <p:txBody>
          <a:bodyPr wrap="square" lIns="0" tIns="0" rIns="0" bIns="0" rtlCol="0" anchor="ctr"/>
          <a:lstStyle/>
          <a:p>
            <a:pPr indent="0" marL="0">
              <a:buNone/>
            </a:pPr>
            <a:r>
              <a:rPr lang="en-US" sz="1100" spc="250" kern="0" dirty="0">
                <a:solidFill>
                  <a:srgbClr val="5C6D7A"/>
                </a:solidFill>
                <a:latin typeface="Courier New" pitchFamily="34" charset="0"/>
                <a:ea typeface="Courier New" pitchFamily="34" charset="-122"/>
                <a:cs typeface="Courier New" pitchFamily="34" charset="-120"/>
              </a:rPr>
              <a:t>SMART INDIA HACKATHON 2026</a:t>
            </a:r>
            <a:endParaRPr lang="en-US" sz="1100" dirty="0"/>
          </a:p>
        </p:txBody>
      </p:sp>
      <p:sp>
        <p:nvSpPr>
          <p:cNvPr id="16" name="Text 13"/>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02 / THE PROBLEM</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SAIL buys freight like a same-day plane ticket</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Coal from Australia, Indonesia, Mozambique, the US and Russia into Paradip, Vizag, Gangavaram, Dhamra, Gopalpur, Haldia and Sandheads — one spot voyage at a time.</a:t>
            </a:r>
            <a:endParaRPr lang="en-US" sz="1450" dirty="0"/>
          </a:p>
        </p:txBody>
      </p:sp>
      <p:sp>
        <p:nvSpPr>
          <p:cNvPr id="5" name="Shape 3"/>
          <p:cNvSpPr/>
          <p:nvPr/>
        </p:nvSpPr>
        <p:spPr>
          <a:xfrm>
            <a:off x="548640" y="2103120"/>
            <a:ext cx="5349240" cy="1691640"/>
          </a:xfrm>
          <a:prstGeom prst="roundRect">
            <a:avLst>
              <a:gd name="adj" fmla="val 324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22960" y="2322576"/>
            <a:ext cx="548640" cy="274320"/>
          </a:xfrm>
          <a:prstGeom prst="rect">
            <a:avLst/>
          </a:prstGeom>
          <a:noFill/>
          <a:ln/>
        </p:spPr>
        <p:txBody>
          <a:bodyPr wrap="square" lIns="0" tIns="0" rIns="0" bIns="0" rtlCol="0" anchor="ctr"/>
          <a:lstStyle/>
          <a:p>
            <a:pPr indent="0" marL="0">
              <a:buNone/>
            </a:pPr>
            <a:r>
              <a:rPr lang="en-US" sz="1200" dirty="0">
                <a:solidFill>
                  <a:srgbClr val="FF8A3D"/>
                </a:solidFill>
                <a:latin typeface="Courier New" pitchFamily="34" charset="0"/>
                <a:ea typeface="Courier New" pitchFamily="34" charset="-122"/>
                <a:cs typeface="Courier New" pitchFamily="34" charset="-120"/>
              </a:rPr>
              <a:t>01</a:t>
            </a:r>
            <a:endParaRPr lang="en-US" sz="1200" dirty="0"/>
          </a:p>
        </p:txBody>
      </p:sp>
      <p:sp>
        <p:nvSpPr>
          <p:cNvPr id="7" name="Text 5"/>
          <p:cNvSpPr txBox="1"/>
          <p:nvPr/>
        </p:nvSpPr>
        <p:spPr>
          <a:xfrm>
            <a:off x="1417320" y="2304288"/>
            <a:ext cx="4297680" cy="292608"/>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NO PRICE DISCIPLINE</a:t>
            </a:r>
            <a:endParaRPr lang="en-US" sz="1450" dirty="0"/>
          </a:p>
        </p:txBody>
      </p:sp>
      <p:sp>
        <p:nvSpPr>
          <p:cNvPr id="8" name="Text 6"/>
          <p:cNvSpPr txBox="1"/>
          <p:nvPr/>
        </p:nvSpPr>
        <p:spPr>
          <a:xfrm>
            <a:off x="1417320" y="2706624"/>
            <a:ext cx="4206240" cy="914400"/>
          </a:xfrm>
          <a:prstGeom prst="rect">
            <a:avLst/>
          </a:prstGeom>
          <a:noFill/>
          <a:ln/>
        </p:spPr>
        <p:txBody>
          <a:bodyPr wrap="square" lIns="0" tIns="0" rIns="0" bIns="0" rtlCol="0" anchor="ctr"/>
          <a:lstStyle/>
          <a:p>
            <a:pPr indent="0" marL="0">
              <a:buNone/>
            </a:pPr>
            <a:r>
              <a:rPr lang="en-US" sz="1250" dirty="0">
                <a:solidFill>
                  <a:srgbClr val="8A9BA8"/>
                </a:solidFill>
                <a:latin typeface="Arial" pitchFamily="34" charset="0"/>
                <a:ea typeface="Arial" pitchFamily="34" charset="-122"/>
                <a:cs typeface="Arial" pitchFamily="34" charset="-120"/>
              </a:rPr>
              <a:t>Nobody can say whether today's offer is good relative to waiting. The decision defaults to “the plant needs coal — fix it.”</a:t>
            </a:r>
            <a:endParaRPr lang="en-US" sz="1250" dirty="0"/>
          </a:p>
        </p:txBody>
      </p:sp>
      <p:sp>
        <p:nvSpPr>
          <p:cNvPr id="9" name="Shape 7"/>
          <p:cNvSpPr/>
          <p:nvPr/>
        </p:nvSpPr>
        <p:spPr>
          <a:xfrm>
            <a:off x="6263640" y="2103120"/>
            <a:ext cx="5349240" cy="1691640"/>
          </a:xfrm>
          <a:prstGeom prst="roundRect">
            <a:avLst>
              <a:gd name="adj" fmla="val 324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6537960" y="2322576"/>
            <a:ext cx="548640" cy="274320"/>
          </a:xfrm>
          <a:prstGeom prst="rect">
            <a:avLst/>
          </a:prstGeom>
          <a:noFill/>
          <a:ln/>
        </p:spPr>
        <p:txBody>
          <a:bodyPr wrap="square" lIns="0" tIns="0" rIns="0" bIns="0" rtlCol="0" anchor="ctr"/>
          <a:lstStyle/>
          <a:p>
            <a:pPr indent="0" marL="0">
              <a:buNone/>
            </a:pPr>
            <a:r>
              <a:rPr lang="en-US" sz="1200" dirty="0">
                <a:solidFill>
                  <a:srgbClr val="FF8A3D"/>
                </a:solidFill>
                <a:latin typeface="Courier New" pitchFamily="34" charset="0"/>
                <a:ea typeface="Courier New" pitchFamily="34" charset="-122"/>
                <a:cs typeface="Courier New" pitchFamily="34" charset="-120"/>
              </a:rPr>
              <a:t>02</a:t>
            </a:r>
            <a:endParaRPr lang="en-US" sz="1200" dirty="0"/>
          </a:p>
        </p:txBody>
      </p:sp>
      <p:sp>
        <p:nvSpPr>
          <p:cNvPr id="11" name="Text 9"/>
          <p:cNvSpPr txBox="1"/>
          <p:nvPr/>
        </p:nvSpPr>
        <p:spPr>
          <a:xfrm>
            <a:off x="7132320" y="2304288"/>
            <a:ext cx="4297680" cy="292608"/>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VESSEL CHOICE BY HABIT</a:t>
            </a:r>
            <a:endParaRPr lang="en-US" sz="1450" dirty="0"/>
          </a:p>
        </p:txBody>
      </p:sp>
      <p:sp>
        <p:nvSpPr>
          <p:cNvPr id="12" name="Text 10"/>
          <p:cNvSpPr txBox="1"/>
          <p:nvPr/>
        </p:nvSpPr>
        <p:spPr>
          <a:xfrm>
            <a:off x="7132320" y="2706624"/>
            <a:ext cx="4206240" cy="914400"/>
          </a:xfrm>
          <a:prstGeom prst="rect">
            <a:avLst/>
          </a:prstGeom>
          <a:noFill/>
          <a:ln/>
        </p:spPr>
        <p:txBody>
          <a:bodyPr wrap="square" lIns="0" tIns="0" rIns="0" bIns="0" rtlCol="0" anchor="ctr"/>
          <a:lstStyle/>
          <a:p>
            <a:pPr indent="0" marL="0">
              <a:buNone/>
            </a:pPr>
            <a:r>
              <a:rPr lang="en-US" sz="1250" dirty="0">
                <a:solidFill>
                  <a:srgbClr val="8A9BA8"/>
                </a:solidFill>
                <a:latin typeface="Arial" pitchFamily="34" charset="0"/>
                <a:ea typeface="Arial" pitchFamily="34" charset="-122"/>
                <a:cs typeface="Arial" pitchFamily="34" charset="-120"/>
              </a:rPr>
              <a:t>The trade-off between economies of scale and a port's draft limit is rarely computed. Bigger looks cheaper until it can't berth.</a:t>
            </a:r>
            <a:endParaRPr lang="en-US" sz="1250" dirty="0"/>
          </a:p>
        </p:txBody>
      </p:sp>
      <p:sp>
        <p:nvSpPr>
          <p:cNvPr id="13" name="Shape 11"/>
          <p:cNvSpPr/>
          <p:nvPr/>
        </p:nvSpPr>
        <p:spPr>
          <a:xfrm>
            <a:off x="548640" y="4069080"/>
            <a:ext cx="5349240" cy="1691640"/>
          </a:xfrm>
          <a:prstGeom prst="roundRect">
            <a:avLst>
              <a:gd name="adj" fmla="val 324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4" name="Text 12"/>
          <p:cNvSpPr txBox="1"/>
          <p:nvPr/>
        </p:nvSpPr>
        <p:spPr>
          <a:xfrm>
            <a:off x="822960" y="4288536"/>
            <a:ext cx="548640" cy="274320"/>
          </a:xfrm>
          <a:prstGeom prst="rect">
            <a:avLst/>
          </a:prstGeom>
          <a:noFill/>
          <a:ln/>
        </p:spPr>
        <p:txBody>
          <a:bodyPr wrap="square" lIns="0" tIns="0" rIns="0" bIns="0" rtlCol="0" anchor="ctr"/>
          <a:lstStyle/>
          <a:p>
            <a:pPr indent="0" marL="0">
              <a:buNone/>
            </a:pPr>
            <a:r>
              <a:rPr lang="en-US" sz="1200" dirty="0">
                <a:solidFill>
                  <a:srgbClr val="FF8A3D"/>
                </a:solidFill>
                <a:latin typeface="Courier New" pitchFamily="34" charset="0"/>
                <a:ea typeface="Courier New" pitchFamily="34" charset="-122"/>
                <a:cs typeface="Courier New" pitchFamily="34" charset="-120"/>
              </a:rPr>
              <a:t>03</a:t>
            </a:r>
            <a:endParaRPr lang="en-US" sz="1200" dirty="0"/>
          </a:p>
        </p:txBody>
      </p:sp>
      <p:sp>
        <p:nvSpPr>
          <p:cNvPr id="15" name="Text 13"/>
          <p:cNvSpPr txBox="1"/>
          <p:nvPr/>
        </p:nvSpPr>
        <p:spPr>
          <a:xfrm>
            <a:off x="1417320" y="4270248"/>
            <a:ext cx="4297680" cy="292608"/>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NO INSTITUTIONAL MEMORY</a:t>
            </a:r>
            <a:endParaRPr lang="en-US" sz="1450" dirty="0"/>
          </a:p>
        </p:txBody>
      </p:sp>
      <p:sp>
        <p:nvSpPr>
          <p:cNvPr id="16" name="Text 14"/>
          <p:cNvSpPr txBox="1"/>
          <p:nvPr/>
        </p:nvSpPr>
        <p:spPr>
          <a:xfrm>
            <a:off x="1417320" y="4672584"/>
            <a:ext cx="4206240" cy="914400"/>
          </a:xfrm>
          <a:prstGeom prst="rect">
            <a:avLst/>
          </a:prstGeom>
          <a:noFill/>
          <a:ln/>
        </p:spPr>
        <p:txBody>
          <a:bodyPr wrap="square" lIns="0" tIns="0" rIns="0" bIns="0" rtlCol="0" anchor="ctr"/>
          <a:lstStyle/>
          <a:p>
            <a:pPr indent="0" marL="0">
              <a:buNone/>
            </a:pPr>
            <a:r>
              <a:rPr lang="en-US" sz="1250" dirty="0">
                <a:solidFill>
                  <a:srgbClr val="8A9BA8"/>
                </a:solidFill>
                <a:latin typeface="Arial" pitchFamily="34" charset="0"/>
                <a:ea typeface="Arial" pitchFamily="34" charset="-122"/>
                <a:cs typeface="Arial" pitchFamily="34" charset="-120"/>
              </a:rPr>
              <a:t>Decisions live in email and spreadsheets. Nothing compares what was paid against what could have been paid.</a:t>
            </a:r>
            <a:endParaRPr lang="en-US" sz="1250" dirty="0"/>
          </a:p>
        </p:txBody>
      </p:sp>
      <p:sp>
        <p:nvSpPr>
          <p:cNvPr id="17" name="Shape 15"/>
          <p:cNvSpPr/>
          <p:nvPr/>
        </p:nvSpPr>
        <p:spPr>
          <a:xfrm>
            <a:off x="6263640" y="4069080"/>
            <a:ext cx="5349240" cy="1691640"/>
          </a:xfrm>
          <a:prstGeom prst="roundRect">
            <a:avLst>
              <a:gd name="adj" fmla="val 324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6537960" y="4288536"/>
            <a:ext cx="548640" cy="274320"/>
          </a:xfrm>
          <a:prstGeom prst="rect">
            <a:avLst/>
          </a:prstGeom>
          <a:noFill/>
          <a:ln/>
        </p:spPr>
        <p:txBody>
          <a:bodyPr wrap="square" lIns="0" tIns="0" rIns="0" bIns="0" rtlCol="0" anchor="ctr"/>
          <a:lstStyle/>
          <a:p>
            <a:pPr indent="0" marL="0">
              <a:buNone/>
            </a:pPr>
            <a:r>
              <a:rPr lang="en-US" sz="1200" dirty="0">
                <a:solidFill>
                  <a:srgbClr val="FF8A3D"/>
                </a:solidFill>
                <a:latin typeface="Courier New" pitchFamily="34" charset="0"/>
                <a:ea typeface="Courier New" pitchFamily="34" charset="-122"/>
                <a:cs typeface="Courier New" pitchFamily="34" charset="-120"/>
              </a:rPr>
              <a:t>04</a:t>
            </a:r>
            <a:endParaRPr lang="en-US" sz="1200" dirty="0"/>
          </a:p>
        </p:txBody>
      </p:sp>
      <p:sp>
        <p:nvSpPr>
          <p:cNvPr id="19" name="Text 17"/>
          <p:cNvSpPr txBox="1"/>
          <p:nvPr/>
        </p:nvSpPr>
        <p:spPr>
          <a:xfrm>
            <a:off x="7132320" y="4270248"/>
            <a:ext cx="4297680" cy="292608"/>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FULLY EXPOSED TO PRICE RISK</a:t>
            </a:r>
            <a:endParaRPr lang="en-US" sz="1450" dirty="0"/>
          </a:p>
        </p:txBody>
      </p:sp>
      <p:sp>
        <p:nvSpPr>
          <p:cNvPr id="20" name="Text 18"/>
          <p:cNvSpPr txBox="1"/>
          <p:nvPr/>
        </p:nvSpPr>
        <p:spPr>
          <a:xfrm>
            <a:off x="7132320" y="4672584"/>
            <a:ext cx="4206240" cy="914400"/>
          </a:xfrm>
          <a:prstGeom prst="rect">
            <a:avLst/>
          </a:prstGeom>
          <a:noFill/>
          <a:ln/>
        </p:spPr>
        <p:txBody>
          <a:bodyPr wrap="square" lIns="0" tIns="0" rIns="0" bIns="0" rtlCol="0" anchor="ctr"/>
          <a:lstStyle/>
          <a:p>
            <a:pPr indent="0" marL="0">
              <a:buNone/>
            </a:pPr>
            <a:r>
              <a:rPr lang="en-US" sz="1250" dirty="0">
                <a:solidFill>
                  <a:srgbClr val="8A9BA8"/>
                </a:solidFill>
                <a:latin typeface="Arial" pitchFamily="34" charset="0"/>
                <a:ea typeface="Arial" pitchFamily="34" charset="-122"/>
                <a:cs typeface="Arial" pitchFamily="34" charset="-120"/>
              </a:rPr>
              <a:t>Freight is carried unhedged, while the counterparty across every negotiation hedges routinely.</a:t>
            </a:r>
            <a:endParaRPr lang="en-US" sz="1250" dirty="0"/>
          </a:p>
        </p:txBody>
      </p:sp>
      <p:sp>
        <p:nvSpPr>
          <p:cNvPr id="22" name="Text 19"/>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03 / THE TRAP</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A hundred teams will build a forecasting model</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It is the wrong product — and saying so out loud is where our credibility starts.</a:t>
            </a:r>
            <a:endParaRPr lang="en-US" sz="1450" dirty="0"/>
          </a:p>
        </p:txBody>
      </p:sp>
      <p:sp>
        <p:nvSpPr>
          <p:cNvPr id="5" name="Shape 3"/>
          <p:cNvSpPr/>
          <p:nvPr/>
        </p:nvSpPr>
        <p:spPr>
          <a:xfrm>
            <a:off x="548640" y="2011680"/>
            <a:ext cx="3566160" cy="2286000"/>
          </a:xfrm>
          <a:prstGeom prst="roundRect">
            <a:avLst>
              <a:gd name="adj" fmla="val 2400"/>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41248" y="2286000"/>
            <a:ext cx="3017520" cy="822960"/>
          </a:xfrm>
          <a:prstGeom prst="rect">
            <a:avLst/>
          </a:prstGeom>
          <a:noFill/>
          <a:ln/>
        </p:spPr>
        <p:txBody>
          <a:bodyPr wrap="square" lIns="0" tIns="0" rIns="0" bIns="0" rtlCol="0" anchor="ctr"/>
          <a:lstStyle/>
          <a:p>
            <a:pPr indent="0" marL="0">
              <a:buNone/>
            </a:pPr>
            <a:r>
              <a:rPr lang="en-US" sz="1600" b="1" dirty="0">
                <a:solidFill>
                  <a:srgbClr val="F2F5F7"/>
                </a:solidFill>
                <a:latin typeface="Arial" pitchFamily="34" charset="0"/>
                <a:ea typeface="Arial" pitchFamily="34" charset="-122"/>
                <a:cs typeface="Arial" pitchFamily="34" charset="-120"/>
              </a:rPr>
              <a:t>Dry bulk rates are close</a:t>
            </a:r>
            <a:endParaRPr lang="en-US" sz="1600" dirty="0"/>
          </a:p>
          <a:p>
            <a:pPr indent="0" marL="0">
              <a:buNone/>
            </a:pPr>
            <a:r>
              <a:rPr lang="en-US" sz="1600" b="1" dirty="0">
                <a:solidFill>
                  <a:srgbClr val="F2F5F7"/>
                </a:solidFill>
                <a:latin typeface="Arial" pitchFamily="34" charset="0"/>
                <a:ea typeface="Arial" pitchFamily="34" charset="-122"/>
                <a:cs typeface="Arial" pitchFamily="34" charset="-120"/>
              </a:rPr>
              <a:t>to a random walk</a:t>
            </a:r>
            <a:endParaRPr lang="en-US" sz="1600" dirty="0"/>
          </a:p>
        </p:txBody>
      </p:sp>
      <p:sp>
        <p:nvSpPr>
          <p:cNvPr id="7" name="Text 5"/>
          <p:cNvSpPr txBox="1"/>
          <p:nvPr/>
        </p:nvSpPr>
        <p:spPr>
          <a:xfrm>
            <a:off x="841248" y="3154680"/>
            <a:ext cx="3017520" cy="91440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High volatility, volatility clustering, jumps, slow mean reversion. Beating a naive benchmark at 30–90 days is genuinely hard.</a:t>
            </a:r>
            <a:endParaRPr lang="en-US" sz="1200" dirty="0"/>
          </a:p>
        </p:txBody>
      </p:sp>
      <p:sp>
        <p:nvSpPr>
          <p:cNvPr id="8" name="Shape 6"/>
          <p:cNvSpPr/>
          <p:nvPr/>
        </p:nvSpPr>
        <p:spPr>
          <a:xfrm>
            <a:off x="4343400" y="2011680"/>
            <a:ext cx="3566160" cy="2286000"/>
          </a:xfrm>
          <a:prstGeom prst="roundRect">
            <a:avLst>
              <a:gd name="adj" fmla="val 2400"/>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4636008" y="2286000"/>
            <a:ext cx="3017520" cy="822960"/>
          </a:xfrm>
          <a:prstGeom prst="rect">
            <a:avLst/>
          </a:prstGeom>
          <a:noFill/>
          <a:ln/>
        </p:spPr>
        <p:txBody>
          <a:bodyPr wrap="square" lIns="0" tIns="0" rIns="0" bIns="0" rtlCol="0" anchor="ctr"/>
          <a:lstStyle/>
          <a:p>
            <a:pPr indent="0" marL="0">
              <a:buNone/>
            </a:pPr>
            <a:r>
              <a:rPr lang="en-US" sz="1600" b="1" dirty="0">
                <a:solidFill>
                  <a:srgbClr val="F2F5F7"/>
                </a:solidFill>
                <a:latin typeface="Arial" pitchFamily="34" charset="0"/>
                <a:ea typeface="Arial" pitchFamily="34" charset="-122"/>
                <a:cs typeface="Arial" pitchFamily="34" charset="-120"/>
              </a:rPr>
              <a:t>A liquid forward market</a:t>
            </a:r>
            <a:endParaRPr lang="en-US" sz="1600" dirty="0"/>
          </a:p>
          <a:p>
            <a:pPr indent="0" marL="0">
              <a:buNone/>
            </a:pPr>
            <a:r>
              <a:rPr lang="en-US" sz="1600" b="1" dirty="0">
                <a:solidFill>
                  <a:srgbClr val="F2F5F7"/>
                </a:solidFill>
                <a:latin typeface="Arial" pitchFamily="34" charset="0"/>
                <a:ea typeface="Arial" pitchFamily="34" charset="-122"/>
                <a:cs typeface="Arial" pitchFamily="34" charset="-120"/>
              </a:rPr>
              <a:t>already prices it</a:t>
            </a:r>
            <a:endParaRPr lang="en-US" sz="1600" dirty="0"/>
          </a:p>
        </p:txBody>
      </p:sp>
      <p:sp>
        <p:nvSpPr>
          <p:cNvPr id="10" name="Text 8"/>
          <p:cNvSpPr txBox="1"/>
          <p:nvPr/>
        </p:nvSpPr>
        <p:spPr>
          <a:xfrm>
            <a:off x="4636008" y="3154680"/>
            <a:ext cx="3017520" cy="91440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Forward Freight Agreements aggregate the informed opinion of every trading desk on earth. Six students will not out-forecast that curve.</a:t>
            </a:r>
            <a:endParaRPr lang="en-US" sz="1200" dirty="0"/>
          </a:p>
        </p:txBody>
      </p:sp>
      <p:sp>
        <p:nvSpPr>
          <p:cNvPr id="11" name="Shape 9"/>
          <p:cNvSpPr/>
          <p:nvPr/>
        </p:nvSpPr>
        <p:spPr>
          <a:xfrm>
            <a:off x="8138160" y="2011680"/>
            <a:ext cx="3474720" cy="2286000"/>
          </a:xfrm>
          <a:prstGeom prst="roundRect">
            <a:avLst>
              <a:gd name="adj" fmla="val 2400"/>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8430768" y="2286000"/>
            <a:ext cx="2926080" cy="411480"/>
          </a:xfrm>
          <a:prstGeom prst="rect">
            <a:avLst/>
          </a:prstGeom>
          <a:noFill/>
          <a:ln/>
        </p:spPr>
        <p:txBody>
          <a:bodyPr wrap="square" lIns="0" tIns="0" rIns="0" bIns="0" rtlCol="0" anchor="ctr"/>
          <a:lstStyle/>
          <a:p>
            <a:pPr indent="0" marL="0">
              <a:buNone/>
            </a:pPr>
            <a:r>
              <a:rPr lang="en-US" sz="1800" b="1" dirty="0">
                <a:solidFill>
                  <a:srgbClr val="FF8A3D"/>
                </a:solidFill>
                <a:latin typeface="Arial" pitchFamily="34" charset="0"/>
                <a:ea typeface="Arial" pitchFamily="34" charset="-122"/>
                <a:cs typeface="Arial" pitchFamily="34" charset="-120"/>
              </a:rPr>
              <a:t>So we don't try.</a:t>
            </a:r>
            <a:endParaRPr lang="en-US" sz="1800" dirty="0"/>
          </a:p>
        </p:txBody>
      </p:sp>
      <p:sp>
        <p:nvSpPr>
          <p:cNvPr id="13" name="Text 11"/>
          <p:cNvSpPr txBox="1"/>
          <p:nvPr/>
        </p:nvSpPr>
        <p:spPr>
          <a:xfrm>
            <a:off x="8430768" y="2788920"/>
            <a:ext cx="2926080" cy="1280160"/>
          </a:xfrm>
          <a:prstGeom prst="rect">
            <a:avLst/>
          </a:prstGeom>
          <a:noFill/>
          <a:ln/>
        </p:spPr>
        <p:txBody>
          <a:bodyPr wrap="square" lIns="0" tIns="0" rIns="0" bIns="0" rtlCol="0" anchor="ctr"/>
          <a:lstStyle/>
          <a:p>
            <a:pPr indent="0" marL="0">
              <a:buNone/>
            </a:pPr>
            <a:r>
              <a:rPr lang="en-US" sz="1250" dirty="0">
                <a:solidFill>
                  <a:srgbClr val="F2F5F7"/>
                </a:solidFill>
                <a:latin typeface="Arial" pitchFamily="34" charset="0"/>
                <a:ea typeface="Arial" pitchFamily="34" charset="-122"/>
                <a:cs typeface="Arial" pitchFamily="34" charset="-120"/>
              </a:rPr>
              <a:t>We benchmark against a random walk and against the curve, publish where we lose, and put the value somewhere it doesn't depend on forecast superiority.</a:t>
            </a:r>
            <a:endParaRPr lang="en-US" sz="1250" dirty="0"/>
          </a:p>
        </p:txBody>
      </p:sp>
      <p:sp>
        <p:nvSpPr>
          <p:cNvPr id="14" name="Text 12"/>
          <p:cNvSpPr txBox="1"/>
          <p:nvPr/>
        </p:nvSpPr>
        <p:spPr>
          <a:xfrm>
            <a:off x="548640" y="4709160"/>
            <a:ext cx="11064240" cy="457200"/>
          </a:xfrm>
          <a:prstGeom prst="rect">
            <a:avLst/>
          </a:prstGeom>
          <a:noFill/>
          <a:ln/>
        </p:spPr>
        <p:txBody>
          <a:bodyPr wrap="square" lIns="0" tIns="0" rIns="0" bIns="0" rtlCol="0" anchor="ctr"/>
          <a:lstStyle/>
          <a:p>
            <a:pPr indent="0" marL="0">
              <a:buNone/>
            </a:pPr>
            <a:r>
              <a:rPr lang="en-US" sz="2100" b="1" dirty="0">
                <a:solidFill>
                  <a:srgbClr val="4FD1C5"/>
                </a:solidFill>
                <a:latin typeface="Arial" pitchFamily="34" charset="0"/>
                <a:ea typeface="Arial" pitchFamily="34" charset="-122"/>
                <a:cs typeface="Arial" pitchFamily="34" charset="-120"/>
              </a:rPr>
              <a:t>The real problem is not prediction. It is decision-making under uncertainty.</a:t>
            </a:r>
            <a:endParaRPr lang="en-US" sz="2100" dirty="0"/>
          </a:p>
        </p:txBody>
      </p:sp>
      <p:sp>
        <p:nvSpPr>
          <p:cNvPr id="15" name="Text 13"/>
          <p:cNvSpPr txBox="1"/>
          <p:nvPr/>
        </p:nvSpPr>
        <p:spPr>
          <a:xfrm>
            <a:off x="548640" y="5230368"/>
            <a:ext cx="11064240" cy="457200"/>
          </a:xfrm>
          <a:prstGeom prst="rect">
            <a:avLst/>
          </a:prstGeom>
          <a:noFill/>
          <a:ln/>
        </p:spPr>
        <p:txBody>
          <a:bodyPr wrap="square" lIns="0" tIns="0" rIns="0" bIns="0" rtlCol="0" anchor="ctr"/>
          <a:lstStyle/>
          <a:p>
            <a:pPr indent="0" marL="0">
              <a:buNone/>
            </a:pPr>
            <a:r>
              <a:rPr lang="en-US" sz="1400" dirty="0">
                <a:solidFill>
                  <a:srgbClr val="8A9BA8"/>
                </a:solidFill>
                <a:latin typeface="Arial" pitchFamily="34" charset="0"/>
                <a:ea typeface="Arial" pitchFamily="34" charset="-122"/>
                <a:cs typeface="Arial" pitchFamily="34" charset="-120"/>
              </a:rPr>
              <a:t>Which is an optimal stopping problem, a constrained optimisation problem, and a risk management problem — wearing a forecasting costume.</a:t>
            </a:r>
            <a:endParaRPr lang="en-US" sz="1400" dirty="0"/>
          </a:p>
        </p:txBody>
      </p:sp>
      <p:sp>
        <p:nvSpPr>
          <p:cNvPr id="17" name="Text 14"/>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04 / THE REFRAME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Four questions a forecast can't answer</a:t>
            </a:r>
            <a:endParaRPr lang="en-US" sz="3000" dirty="0"/>
          </a:p>
        </p:txBody>
      </p:sp>
      <p:sp>
        <p:nvSpPr>
          <p:cNvPr id="4" name="Text 2"/>
          <p:cNvSpPr txBox="1"/>
          <p:nvPr/>
        </p:nvSpPr>
        <p:spPr>
          <a:xfrm>
            <a:off x="3794760" y="1938528"/>
            <a:ext cx="3108960" cy="274320"/>
          </a:xfrm>
          <a:prstGeom prst="rect">
            <a:avLst/>
          </a:prstGeom>
          <a:noFill/>
          <a:ln/>
        </p:spPr>
        <p:txBody>
          <a:bodyPr wrap="square" lIns="0" tIns="0" rIns="0" bIns="0" rtlCol="0" anchor="ctr"/>
          <a:lstStyle/>
          <a:p>
            <a:pPr indent="0" marL="0">
              <a:buNone/>
            </a:pPr>
            <a:r>
              <a:rPr lang="en-US" sz="950" spc="150" kern="0" dirty="0">
                <a:solidFill>
                  <a:srgbClr val="5C6D7A"/>
                </a:solidFill>
                <a:latin typeface="Courier New" pitchFamily="34" charset="0"/>
                <a:ea typeface="Courier New" pitchFamily="34" charset="-122"/>
                <a:cs typeface="Courier New" pitchFamily="34" charset="-120"/>
              </a:rPr>
              <a:t>A FORECASTING MODEL SAYS</a:t>
            </a:r>
            <a:endParaRPr lang="en-US" sz="950" dirty="0"/>
          </a:p>
        </p:txBody>
      </p:sp>
      <p:sp>
        <p:nvSpPr>
          <p:cNvPr id="5" name="Text 3"/>
          <p:cNvSpPr txBox="1"/>
          <p:nvPr/>
        </p:nvSpPr>
        <p:spPr>
          <a:xfrm>
            <a:off x="7178040" y="1938528"/>
            <a:ext cx="3108960" cy="274320"/>
          </a:xfrm>
          <a:prstGeom prst="rect">
            <a:avLst/>
          </a:prstGeom>
          <a:noFill/>
          <a:ln/>
        </p:spPr>
        <p:txBody>
          <a:bodyPr wrap="square" lIns="0" tIns="0" rIns="0" bIns="0" rtlCol="0" anchor="ctr"/>
          <a:lstStyle/>
          <a:p>
            <a:pPr indent="0" marL="0">
              <a:buNone/>
            </a:pPr>
            <a:r>
              <a:rPr lang="en-US" sz="950" spc="150" kern="0" dirty="0">
                <a:solidFill>
                  <a:srgbClr val="FF8A3D"/>
                </a:solidFill>
                <a:latin typeface="Courier New" pitchFamily="34" charset="0"/>
                <a:ea typeface="Courier New" pitchFamily="34" charset="-122"/>
                <a:cs typeface="Courier New" pitchFamily="34" charset="-120"/>
              </a:rPr>
              <a:t>LAYCAN SAYS</a:t>
            </a:r>
            <a:endParaRPr lang="en-US" sz="950" dirty="0"/>
          </a:p>
        </p:txBody>
      </p:sp>
      <p:sp>
        <p:nvSpPr>
          <p:cNvPr id="6" name="Shape 4"/>
          <p:cNvSpPr/>
          <p:nvPr/>
        </p:nvSpPr>
        <p:spPr>
          <a:xfrm>
            <a:off x="548640" y="2304288"/>
            <a:ext cx="3063240" cy="896112"/>
          </a:xfrm>
          <a:prstGeom prst="roundRect">
            <a:avLst>
              <a:gd name="adj" fmla="val 612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768096" y="2578608"/>
            <a:ext cx="2697480" cy="36576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Fix today, or wait?</a:t>
            </a:r>
            <a:endParaRPr lang="en-US" sz="1400" dirty="0"/>
          </a:p>
        </p:txBody>
      </p:sp>
      <p:sp>
        <p:nvSpPr>
          <p:cNvPr id="8" name="Text 6"/>
          <p:cNvSpPr txBox="1"/>
          <p:nvPr/>
        </p:nvSpPr>
        <p:spPr>
          <a:xfrm>
            <a:off x="3794760" y="2505456"/>
            <a:ext cx="3108960" cy="548640"/>
          </a:xfrm>
          <a:prstGeom prst="rect">
            <a:avLst/>
          </a:prstGeom>
          <a:noFill/>
          <a:ln/>
        </p:spPr>
        <p:txBody>
          <a:bodyPr wrap="square" lIns="0" tIns="0" rIns="0" bIns="0" rtlCol="0" anchor="ctr"/>
          <a:lstStyle/>
          <a:p>
            <a:pPr indent="0" marL="0">
              <a:buNone/>
            </a:pPr>
            <a:r>
              <a:rPr lang="en-US" sz="1200" i="1" dirty="0">
                <a:solidFill>
                  <a:srgbClr val="5C6D7A"/>
                </a:solidFill>
                <a:latin typeface="Arial" pitchFamily="34" charset="0"/>
                <a:ea typeface="Arial" pitchFamily="34" charset="-122"/>
                <a:cs typeface="Arial" pitchFamily="34" charset="-120"/>
              </a:rPr>
              <a:t>“Rates may fall around 5%”</a:t>
            </a:r>
            <a:endParaRPr lang="en-US" sz="1200" dirty="0"/>
          </a:p>
        </p:txBody>
      </p:sp>
      <p:sp>
        <p:nvSpPr>
          <p:cNvPr id="9" name="Shape 7"/>
          <p:cNvSpPr/>
          <p:nvPr/>
        </p:nvSpPr>
        <p:spPr>
          <a:xfrm>
            <a:off x="7132320" y="2304288"/>
            <a:ext cx="4480560" cy="896112"/>
          </a:xfrm>
          <a:prstGeom prst="roundRect">
            <a:avLst>
              <a:gd name="adj" fmla="val 6122"/>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7333488" y="2423160"/>
            <a:ext cx="4114800" cy="68580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Fix if it prints at or below $21.40/mt. It's at $23.10. Wait. Threshold rises to $22.60 by the 14th.</a:t>
            </a:r>
            <a:endParaRPr lang="en-US" sz="1150" dirty="0"/>
          </a:p>
        </p:txBody>
      </p:sp>
      <p:sp>
        <p:nvSpPr>
          <p:cNvPr id="11" name="Shape 9"/>
          <p:cNvSpPr/>
          <p:nvPr/>
        </p:nvSpPr>
        <p:spPr>
          <a:xfrm>
            <a:off x="548640" y="3328416"/>
            <a:ext cx="3063240" cy="896112"/>
          </a:xfrm>
          <a:prstGeom prst="roundRect">
            <a:avLst>
              <a:gd name="adj" fmla="val 612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768096" y="3602736"/>
            <a:ext cx="2697480" cy="36576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Which vessel class?</a:t>
            </a:r>
            <a:endParaRPr lang="en-US" sz="1400" dirty="0"/>
          </a:p>
        </p:txBody>
      </p:sp>
      <p:sp>
        <p:nvSpPr>
          <p:cNvPr id="13" name="Text 11"/>
          <p:cNvSpPr txBox="1"/>
          <p:nvPr/>
        </p:nvSpPr>
        <p:spPr>
          <a:xfrm>
            <a:off x="3794760" y="3529584"/>
            <a:ext cx="3108960" cy="548640"/>
          </a:xfrm>
          <a:prstGeom prst="rect">
            <a:avLst/>
          </a:prstGeom>
          <a:noFill/>
          <a:ln/>
        </p:spPr>
        <p:txBody>
          <a:bodyPr wrap="square" lIns="0" tIns="0" rIns="0" bIns="0" rtlCol="0" anchor="ctr"/>
          <a:lstStyle/>
          <a:p>
            <a:pPr indent="0" marL="0">
              <a:buNone/>
            </a:pPr>
            <a:r>
              <a:rPr lang="en-US" sz="1200" i="1" dirty="0">
                <a:solidFill>
                  <a:srgbClr val="5C6D7A"/>
                </a:solidFill>
                <a:latin typeface="Arial" pitchFamily="34" charset="0"/>
                <a:ea typeface="Arial" pitchFamily="34" charset="-122"/>
                <a:cs typeface="Arial" pitchFamily="34" charset="-120"/>
              </a:rPr>
              <a:t>“Capesize is cheaper per tonne”</a:t>
            </a:r>
            <a:endParaRPr lang="en-US" sz="1200" dirty="0"/>
          </a:p>
        </p:txBody>
      </p:sp>
      <p:sp>
        <p:nvSpPr>
          <p:cNvPr id="14" name="Shape 12"/>
          <p:cNvSpPr/>
          <p:nvPr/>
        </p:nvSpPr>
        <p:spPr>
          <a:xfrm>
            <a:off x="7132320" y="3328416"/>
            <a:ext cx="4480560" cy="896112"/>
          </a:xfrm>
          <a:prstGeom prst="roundRect">
            <a:avLst>
              <a:gd name="adj" fmla="val 6122"/>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7333488" y="3447288"/>
            <a:ext cx="4114800" cy="68580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Kamsarmax. The Cape is draft-limited here, so you pay for capacity you cannot load.</a:t>
            </a:r>
            <a:endParaRPr lang="en-US" sz="1150" dirty="0"/>
          </a:p>
        </p:txBody>
      </p:sp>
      <p:sp>
        <p:nvSpPr>
          <p:cNvPr id="16" name="Shape 14"/>
          <p:cNvSpPr/>
          <p:nvPr/>
        </p:nvSpPr>
        <p:spPr>
          <a:xfrm>
            <a:off x="548640" y="4352544"/>
            <a:ext cx="3063240" cy="896112"/>
          </a:xfrm>
          <a:prstGeom prst="roundRect">
            <a:avLst>
              <a:gd name="adj" fmla="val 612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768096" y="4626864"/>
            <a:ext cx="2697480" cy="36576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Which instrument?</a:t>
            </a:r>
            <a:endParaRPr lang="en-US" sz="1400" dirty="0"/>
          </a:p>
        </p:txBody>
      </p:sp>
      <p:sp>
        <p:nvSpPr>
          <p:cNvPr id="18" name="Text 16"/>
          <p:cNvSpPr txBox="1"/>
          <p:nvPr/>
        </p:nvSpPr>
        <p:spPr>
          <a:xfrm>
            <a:off x="3794760" y="4553712"/>
            <a:ext cx="3108960" cy="548640"/>
          </a:xfrm>
          <a:prstGeom prst="rect">
            <a:avLst/>
          </a:prstGeom>
          <a:noFill/>
          <a:ln/>
        </p:spPr>
        <p:txBody>
          <a:bodyPr wrap="square" lIns="0" tIns="0" rIns="0" bIns="0" rtlCol="0" anchor="ctr"/>
          <a:lstStyle/>
          <a:p>
            <a:pPr indent="0" marL="0">
              <a:buNone/>
            </a:pPr>
            <a:r>
              <a:rPr lang="en-US" sz="1200" i="1" dirty="0">
                <a:solidFill>
                  <a:srgbClr val="5C6D7A"/>
                </a:solidFill>
                <a:latin typeface="Arial" pitchFamily="34" charset="0"/>
                <a:ea typeface="Arial" pitchFamily="34" charset="-122"/>
                <a:cs typeface="Arial" pitchFamily="34" charset="-120"/>
              </a:rPr>
              <a:t>— silent —</a:t>
            </a:r>
            <a:endParaRPr lang="en-US" sz="1200" dirty="0"/>
          </a:p>
        </p:txBody>
      </p:sp>
      <p:sp>
        <p:nvSpPr>
          <p:cNvPr id="19" name="Shape 17"/>
          <p:cNvSpPr/>
          <p:nvPr/>
        </p:nvSpPr>
        <p:spPr>
          <a:xfrm>
            <a:off x="7132320" y="4352544"/>
            <a:ext cx="4480560" cy="896112"/>
          </a:xfrm>
          <a:prstGeom prst="roundRect">
            <a:avLst>
              <a:gd name="adj" fmla="val 6122"/>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20" name="Text 18"/>
          <p:cNvSpPr txBox="1"/>
          <p:nvPr/>
        </p:nvSpPr>
        <p:spPr>
          <a:xfrm>
            <a:off x="7333488" y="4471416"/>
            <a:ext cx="4114800" cy="68580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60% of Q4 on a 4-voyage COA, 40% spot. Full cover looks cheaper but your volume band is ±18%.</a:t>
            </a:r>
            <a:endParaRPr lang="en-US" sz="1150" dirty="0"/>
          </a:p>
        </p:txBody>
      </p:sp>
      <p:sp>
        <p:nvSpPr>
          <p:cNvPr id="21" name="Shape 19"/>
          <p:cNvSpPr/>
          <p:nvPr/>
        </p:nvSpPr>
        <p:spPr>
          <a:xfrm>
            <a:off x="548640" y="5376672"/>
            <a:ext cx="3063240" cy="896112"/>
          </a:xfrm>
          <a:prstGeom prst="roundRect">
            <a:avLst>
              <a:gd name="adj" fmla="val 612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768096" y="5650992"/>
            <a:ext cx="2697480" cy="36576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How much risk?</a:t>
            </a:r>
            <a:endParaRPr lang="en-US" sz="1400" dirty="0"/>
          </a:p>
        </p:txBody>
      </p:sp>
      <p:sp>
        <p:nvSpPr>
          <p:cNvPr id="23" name="Text 21"/>
          <p:cNvSpPr txBox="1"/>
          <p:nvPr/>
        </p:nvSpPr>
        <p:spPr>
          <a:xfrm>
            <a:off x="3794760" y="5577840"/>
            <a:ext cx="3108960" cy="548640"/>
          </a:xfrm>
          <a:prstGeom prst="rect">
            <a:avLst/>
          </a:prstGeom>
          <a:noFill/>
          <a:ln/>
        </p:spPr>
        <p:txBody>
          <a:bodyPr wrap="square" lIns="0" tIns="0" rIns="0" bIns="0" rtlCol="0" anchor="ctr"/>
          <a:lstStyle/>
          <a:p>
            <a:pPr indent="0" marL="0">
              <a:buNone/>
            </a:pPr>
            <a:r>
              <a:rPr lang="en-US" sz="1200" i="1" dirty="0">
                <a:solidFill>
                  <a:srgbClr val="5C6D7A"/>
                </a:solidFill>
                <a:latin typeface="Arial" pitchFamily="34" charset="0"/>
                <a:ea typeface="Arial" pitchFamily="34" charset="-122"/>
                <a:cs typeface="Arial" pitchFamily="34" charset="-120"/>
              </a:rPr>
              <a:t>— silent —</a:t>
            </a:r>
            <a:endParaRPr lang="en-US" sz="1200" dirty="0"/>
          </a:p>
        </p:txBody>
      </p:sp>
      <p:sp>
        <p:nvSpPr>
          <p:cNvPr id="24" name="Shape 22"/>
          <p:cNvSpPr/>
          <p:nvPr/>
        </p:nvSpPr>
        <p:spPr>
          <a:xfrm>
            <a:off x="7132320" y="5376672"/>
            <a:ext cx="4480560" cy="896112"/>
          </a:xfrm>
          <a:prstGeom prst="roundRect">
            <a:avLst>
              <a:gd name="adj" fmla="val 6122"/>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25" name="Text 23"/>
          <p:cNvSpPr txBox="1"/>
          <p:nvPr/>
        </p:nvSpPr>
        <p:spPr>
          <a:xfrm>
            <a:off x="7333488" y="5495544"/>
            <a:ext cx="4114800" cy="68580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Unhedged Q4 exposure $14.2M, 95% CVaR $2.1M. 45 FFA lots cut tail risk 38% at zero premium.</a:t>
            </a:r>
            <a:endParaRPr lang="en-US" sz="1150" dirty="0"/>
          </a:p>
        </p:txBody>
      </p:sp>
      <p:sp>
        <p:nvSpPr>
          <p:cNvPr id="26" name="Text 24"/>
          <p:cNvSpPr txBox="1"/>
          <p:nvPr/>
        </p:nvSpPr>
        <p:spPr>
          <a:xfrm>
            <a:off x="548640" y="6345936"/>
            <a:ext cx="10424160" cy="274320"/>
          </a:xfrm>
          <a:prstGeom prst="rect">
            <a:avLst/>
          </a:prstGeom>
          <a:noFill/>
          <a:ln/>
        </p:spPr>
        <p:txBody>
          <a:bodyPr wrap="square" lIns="0" tIns="0" rIns="0" bIns="0" rtlCol="0" anchor="ctr"/>
          <a:lstStyle/>
          <a:p>
            <a:pPr indent="0" marL="0">
              <a:buNone/>
            </a:pPr>
            <a:r>
              <a:rPr lang="en-US" sz="900" dirty="0">
                <a:solidFill>
                  <a:srgbClr val="5C6D7A"/>
                </a:solidFill>
                <a:latin typeface="Courier New" pitchFamily="34" charset="0"/>
                <a:ea typeface="Courier New" pitchFamily="34" charset="-122"/>
                <a:cs typeface="Courier New" pitchFamily="34" charset="-120"/>
              </a:rPr>
              <a:t>Figures illustrative — replace with output from your own backtest and demo scenario.</a:t>
            </a:r>
            <a:endParaRPr lang="en-US" sz="900" dirty="0"/>
          </a:p>
        </p:txBody>
      </p:sp>
      <p:sp>
        <p:nvSpPr>
          <p:cNvPr id="28" name="Text 25"/>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05 / THE PRODUCT</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One object: the Decision Memo</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Every solver, every agent and every data source exists to produce this one page.</a:t>
            </a:r>
            <a:endParaRPr lang="en-US" sz="1450" dirty="0"/>
          </a:p>
        </p:txBody>
      </p:sp>
      <p:sp>
        <p:nvSpPr>
          <p:cNvPr id="5" name="Shape 3"/>
          <p:cNvSpPr/>
          <p:nvPr/>
        </p:nvSpPr>
        <p:spPr>
          <a:xfrm>
            <a:off x="548640" y="1874520"/>
            <a:ext cx="6903720" cy="4160520"/>
          </a:xfrm>
          <a:prstGeom prst="roundRect">
            <a:avLst>
              <a:gd name="adj" fmla="val 1319"/>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41248" y="2084832"/>
            <a:ext cx="6400800" cy="3749040"/>
          </a:xfrm>
          <a:prstGeom prst="rect">
            <a:avLst/>
          </a:prstGeom>
          <a:noFill/>
          <a:ln/>
        </p:spPr>
        <p:txBody>
          <a:bodyPr wrap="square" lIns="0" tIns="0" rIns="0" bIns="0" rtlCol="0" anchor="t"/>
          <a:lstStyle/>
          <a:p>
            <a:pPr indent="0" marL="0">
              <a:lnSpc>
                <a:spcPct val="128000"/>
              </a:lnSpc>
              <a:buNone/>
            </a:pPr>
            <a:r>
              <a:rPr lang="en-US" sz="1150" b="1" dirty="0">
                <a:solidFill>
                  <a:srgbClr val="F2F5F7"/>
                </a:solidFill>
                <a:latin typeface="Courier New" pitchFamily="34" charset="0"/>
                <a:ea typeface="Courier New" pitchFamily="34" charset="-122"/>
                <a:cs typeface="Courier New" pitchFamily="34" charset="-120"/>
              </a:rPr>
              <a:t>DECISION MEMO · SAIL-COK-2026-118</a:t>
            </a:r>
            <a:endParaRPr lang="en-US" sz="1150" dirty="0"/>
          </a:p>
          <a:p>
            <a:pPr indent="0" marL="0">
              <a:lnSpc>
                <a:spcPct val="128000"/>
              </a:lnSpc>
              <a:buNone/>
            </a:pPr>
            <a:r>
              <a:rPr lang="en-US" sz="1150" dirty="0">
                <a:solidFill>
                  <a:srgbClr val="8A9BA8"/>
                </a:solidFill>
                <a:latin typeface="Courier New" pitchFamily="34" charset="0"/>
                <a:ea typeface="Courier New" pitchFamily="34" charset="-122"/>
                <a:cs typeface="Courier New" pitchFamily="34" charset="-120"/>
              </a:rPr>
              <a:t>75,000 mt (±10% MOLOO) Coking Coal · Hay Point → Paradip</a:t>
            </a:r>
            <a:endParaRPr lang="en-US" sz="1150" dirty="0"/>
          </a:p>
          <a:p>
            <a:pPr indent="0" marL="0">
              <a:lnSpc>
                <a:spcPct val="128000"/>
              </a:lnSpc>
              <a:buNone/>
            </a:pPr>
            <a:r>
              <a:rPr lang="en-US" sz="1150" dirty="0">
                <a:solidFill>
                  <a:srgbClr val="8A9BA8"/>
                </a:solidFill>
                <a:latin typeface="Courier New" pitchFamily="34" charset="0"/>
                <a:ea typeface="Courier New" pitchFamily="34" charset="-122"/>
                <a:cs typeface="Courier New" pitchFamily="34" charset="-120"/>
              </a:rPr>
              <a:t>Laycan 05–15 Oct 2026 · 43 days to window open</a:t>
            </a:r>
            <a:endParaRPr lang="en-US" sz="1150" dirty="0"/>
          </a:p>
          <a:p>
            <a:pPr indent="0" marL="0">
              <a:lnSpc>
                <a:spcPct val="128000"/>
              </a:lnSpc>
              <a:buNone/>
            </a:pPr>
            <a:r>
              <a:rPr lang="en-US" sz="500" dirty="0">
                <a:solidFill>
                  <a:srgbClr val="F2F5F7"/>
                </a:solidFill>
                <a:latin typeface="Courier New" pitchFamily="34" charset="0"/>
                <a:ea typeface="Courier New" pitchFamily="34" charset="-122"/>
                <a:cs typeface="Courier New" pitchFamily="34" charset="-120"/>
              </a:rPr>
              <a:t> </a:t>
            </a:r>
            <a:endParaRPr lang="en-US" sz="1150" dirty="0"/>
          </a:p>
          <a:p>
            <a:pPr indent="0" marL="0">
              <a:lnSpc>
                <a:spcPct val="128000"/>
              </a:lnSpc>
              <a:buNone/>
            </a:pPr>
            <a:r>
              <a:rPr lang="en-US" sz="1150" b="1" dirty="0">
                <a:solidFill>
                  <a:srgbClr val="FF8A3D"/>
                </a:solidFill>
                <a:latin typeface="Courier New" pitchFamily="34" charset="0"/>
                <a:ea typeface="Courier New" pitchFamily="34" charset="-122"/>
                <a:cs typeface="Courier New" pitchFamily="34" charset="-120"/>
              </a:rPr>
              <a:t>RECOMMENDATION                          WAIT</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Reservation rate today ....... $21.40 /mt</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Market indication ............ $23.10 /mt  (+7.9%)</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Threshold on 14 Sep .......... $22.60 /mt  (rising)</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Latest advisable fixing date .. 21 Sep 2026</a:t>
            </a:r>
            <a:endParaRPr lang="en-US" sz="1150" dirty="0"/>
          </a:p>
          <a:p>
            <a:pPr indent="0" marL="0">
              <a:lnSpc>
                <a:spcPct val="128000"/>
              </a:lnSpc>
              <a:buNone/>
            </a:pPr>
            <a:r>
              <a:rPr lang="en-US" sz="500" dirty="0">
                <a:solidFill>
                  <a:srgbClr val="F2F5F7"/>
                </a:solidFill>
                <a:latin typeface="Courier New" pitchFamily="34" charset="0"/>
                <a:ea typeface="Courier New" pitchFamily="34" charset="-122"/>
                <a:cs typeface="Courier New" pitchFamily="34" charset="-120"/>
              </a:rPr>
              <a:t> </a:t>
            </a:r>
            <a:endParaRPr lang="en-US" sz="1150" dirty="0"/>
          </a:p>
          <a:p>
            <a:pPr indent="0" marL="0">
              <a:lnSpc>
                <a:spcPct val="128000"/>
              </a:lnSpc>
              <a:buNone/>
            </a:pPr>
            <a:r>
              <a:rPr lang="en-US" sz="1150" dirty="0">
                <a:solidFill>
                  <a:srgbClr val="4FD1C5"/>
                </a:solidFill>
                <a:latin typeface="Courier New" pitchFamily="34" charset="0"/>
                <a:ea typeface="Courier New" pitchFamily="34" charset="-122"/>
                <a:cs typeface="Courier New" pitchFamily="34" charset="-120"/>
              </a:rPr>
              <a:t>Vessel class ................. KAMSARMAX</a:t>
            </a:r>
            <a:endParaRPr lang="en-US" sz="1150" dirty="0"/>
          </a:p>
          <a:p>
            <a:pPr indent="0" marL="0">
              <a:lnSpc>
                <a:spcPct val="128000"/>
              </a:lnSpc>
              <a:buNone/>
            </a:pPr>
            <a:r>
              <a:rPr lang="en-US" sz="1150" dirty="0">
                <a:solidFill>
                  <a:srgbClr val="4FD1C5"/>
                </a:solidFill>
                <a:latin typeface="Courier New" pitchFamily="34" charset="0"/>
                <a:ea typeface="Courier New" pitchFamily="34" charset="-122"/>
                <a:cs typeface="Courier New" pitchFamily="34" charset="-120"/>
              </a:rPr>
              <a:t>Instrument ................... 4-voyage COA, 60% of Q4</a:t>
            </a:r>
            <a:endParaRPr lang="en-US" sz="1150" dirty="0"/>
          </a:p>
          <a:p>
            <a:pPr indent="0" marL="0">
              <a:lnSpc>
                <a:spcPct val="128000"/>
              </a:lnSpc>
              <a:buNone/>
            </a:pPr>
            <a:r>
              <a:rPr lang="en-US" sz="1150" dirty="0">
                <a:solidFill>
                  <a:srgbClr val="4FD1C5"/>
                </a:solidFill>
                <a:latin typeface="Courier New" pitchFamily="34" charset="0"/>
                <a:ea typeface="Courier New" pitchFamily="34" charset="-122"/>
                <a:cs typeface="Courier New" pitchFamily="34" charset="-120"/>
              </a:rPr>
              <a:t>Hedge ........................ sell 45 lots P5TC Q4</a:t>
            </a:r>
            <a:endParaRPr lang="en-US" sz="1150" dirty="0"/>
          </a:p>
          <a:p>
            <a:pPr indent="0" marL="0">
              <a:lnSpc>
                <a:spcPct val="128000"/>
              </a:lnSpc>
              <a:buNone/>
            </a:pPr>
            <a:r>
              <a:rPr lang="en-US" sz="500" dirty="0">
                <a:solidFill>
                  <a:srgbClr val="F2F5F7"/>
                </a:solidFill>
                <a:latin typeface="Courier New" pitchFamily="34" charset="0"/>
                <a:ea typeface="Courier New" pitchFamily="34" charset="-122"/>
                <a:cs typeface="Courier New" pitchFamily="34" charset="-120"/>
              </a:rPr>
              <a:t> </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Expected landed ......... $22.05 /mt (P10 19.8 / P90 25.1)</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vs fix-today ................. −$1.05 /mt = −$78,750</a:t>
            </a:r>
            <a:endParaRPr lang="en-US" sz="1150" dirty="0"/>
          </a:p>
          <a:p>
            <a:pPr indent="0" marL="0">
              <a:lnSpc>
                <a:spcPct val="128000"/>
              </a:lnSpc>
              <a:buNone/>
            </a:pPr>
            <a:r>
              <a:rPr lang="en-US" sz="1150" dirty="0">
                <a:solidFill>
                  <a:srgbClr val="F2F5F7"/>
                </a:solidFill>
                <a:latin typeface="Courier New" pitchFamily="34" charset="0"/>
                <a:ea typeface="Courier New" pitchFamily="34" charset="-122"/>
                <a:cs typeface="Courier New" pitchFamily="34" charset="-120"/>
              </a:rPr>
              <a:t>Confidence ................... MEDIUM-HIGH</a:t>
            </a:r>
            <a:endParaRPr lang="en-US" sz="1150" dirty="0"/>
          </a:p>
          <a:p>
            <a:pPr indent="0" marL="0">
              <a:lnSpc>
                <a:spcPct val="128000"/>
              </a:lnSpc>
              <a:buNone/>
            </a:pPr>
            <a:r>
              <a:rPr lang="en-US" sz="1150" dirty="0">
                <a:solidFill>
                  <a:srgbClr val="E5484D"/>
                </a:solidFill>
                <a:latin typeface="Courier New" pitchFamily="34" charset="0"/>
                <a:ea typeface="Courier New" pitchFamily="34" charset="-122"/>
                <a:cs typeface="Courier New" pitchFamily="34" charset="-120"/>
              </a:rPr>
              <a:t>Critic flags ................. 1 (cyclone watch)</a:t>
            </a:r>
            <a:endParaRPr lang="en-US" sz="1150" dirty="0"/>
          </a:p>
        </p:txBody>
      </p:sp>
      <p:sp>
        <p:nvSpPr>
          <p:cNvPr id="7" name="Text 5"/>
          <p:cNvSpPr txBox="1"/>
          <p:nvPr/>
        </p:nvSpPr>
        <p:spPr>
          <a:xfrm>
            <a:off x="7772400" y="1920240"/>
            <a:ext cx="3931920" cy="274320"/>
          </a:xfrm>
          <a:prstGeom prst="rect">
            <a:avLst/>
          </a:prstGeom>
          <a:noFill/>
          <a:ln/>
        </p:spPr>
        <p:txBody>
          <a:bodyPr wrap="square" lIns="0" tIns="0" rIns="0" bIns="0" rtlCol="0" anchor="ctr"/>
          <a:lstStyle/>
          <a:p>
            <a:pPr indent="0" marL="0">
              <a:buNone/>
            </a:pPr>
            <a:r>
              <a:rPr lang="en-US" sz="950" spc="120" kern="0" dirty="0">
                <a:solidFill>
                  <a:srgbClr val="5C6D7A"/>
                </a:solidFill>
                <a:latin typeface="Courier New" pitchFamily="34" charset="0"/>
                <a:ea typeface="Courier New" pitchFamily="34" charset="-122"/>
                <a:cs typeface="Courier New" pitchFamily="34" charset="-120"/>
              </a:rPr>
              <a:t>WHAT MAKES IT A PRODUCT AND NOT A DASHBOARD</a:t>
            </a:r>
            <a:endParaRPr lang="en-US" sz="950" dirty="0"/>
          </a:p>
        </p:txBody>
      </p:sp>
      <p:sp>
        <p:nvSpPr>
          <p:cNvPr id="8" name="Text 6"/>
          <p:cNvSpPr txBox="1"/>
          <p:nvPr/>
        </p:nvSpPr>
        <p:spPr>
          <a:xfrm>
            <a:off x="7772400" y="2331720"/>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9" name="Text 7"/>
          <p:cNvSpPr txBox="1"/>
          <p:nvPr/>
        </p:nvSpPr>
        <p:spPr>
          <a:xfrm>
            <a:off x="8046720" y="2313432"/>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One unambiguous action</a:t>
            </a:r>
            <a:endParaRPr lang="en-US" sz="1250" dirty="0"/>
          </a:p>
        </p:txBody>
      </p:sp>
      <p:sp>
        <p:nvSpPr>
          <p:cNvPr id="10" name="Text 8"/>
          <p:cNvSpPr txBox="1"/>
          <p:nvPr/>
        </p:nvSpPr>
        <p:spPr>
          <a:xfrm>
            <a:off x="8046720" y="2560320"/>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not a chart to interpret</a:t>
            </a:r>
            <a:endParaRPr lang="en-US" sz="1100" dirty="0"/>
          </a:p>
        </p:txBody>
      </p:sp>
      <p:sp>
        <p:nvSpPr>
          <p:cNvPr id="11" name="Text 9"/>
          <p:cNvSpPr txBox="1"/>
          <p:nvPr/>
        </p:nvSpPr>
        <p:spPr>
          <a:xfrm>
            <a:off x="7772400" y="2862072"/>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12" name="Text 10"/>
          <p:cNvSpPr txBox="1"/>
          <p:nvPr/>
        </p:nvSpPr>
        <p:spPr>
          <a:xfrm>
            <a:off x="8046720" y="2843784"/>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A number that makes it falsifiable</a:t>
            </a:r>
            <a:endParaRPr lang="en-US" sz="1250" dirty="0"/>
          </a:p>
        </p:txBody>
      </p:sp>
      <p:sp>
        <p:nvSpPr>
          <p:cNvPr id="13" name="Text 11"/>
          <p:cNvSpPr txBox="1"/>
          <p:nvPr/>
        </p:nvSpPr>
        <p:spPr>
          <a:xfrm>
            <a:off x="8046720" y="3090672"/>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you can check us tomorrow</a:t>
            </a:r>
            <a:endParaRPr lang="en-US" sz="1100" dirty="0"/>
          </a:p>
        </p:txBody>
      </p:sp>
      <p:sp>
        <p:nvSpPr>
          <p:cNvPr id="14" name="Text 12"/>
          <p:cNvSpPr txBox="1"/>
          <p:nvPr/>
        </p:nvSpPr>
        <p:spPr>
          <a:xfrm>
            <a:off x="7772400" y="3392424"/>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15" name="Text 13"/>
          <p:cNvSpPr txBox="1"/>
          <p:nvPr/>
        </p:nvSpPr>
        <p:spPr>
          <a:xfrm>
            <a:off x="8046720" y="3374136"/>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The cost of ignoring it</a:t>
            </a:r>
            <a:endParaRPr lang="en-US" sz="1250" dirty="0"/>
          </a:p>
        </p:txBody>
      </p:sp>
      <p:sp>
        <p:nvSpPr>
          <p:cNvPr id="16" name="Text 14"/>
          <p:cNvSpPr txBox="1"/>
          <p:nvPr/>
        </p:nvSpPr>
        <p:spPr>
          <a:xfrm>
            <a:off x="8046720" y="3621024"/>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the counterfactual, in dollars</a:t>
            </a:r>
            <a:endParaRPr lang="en-US" sz="1100" dirty="0"/>
          </a:p>
        </p:txBody>
      </p:sp>
      <p:sp>
        <p:nvSpPr>
          <p:cNvPr id="17" name="Text 15"/>
          <p:cNvSpPr txBox="1"/>
          <p:nvPr/>
        </p:nvSpPr>
        <p:spPr>
          <a:xfrm>
            <a:off x="7772400" y="3922776"/>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18" name="Text 16"/>
          <p:cNvSpPr txBox="1"/>
          <p:nvPr/>
        </p:nvSpPr>
        <p:spPr>
          <a:xfrm>
            <a:off x="8046720" y="3904488"/>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A named objection</a:t>
            </a:r>
            <a:endParaRPr lang="en-US" sz="1250" dirty="0"/>
          </a:p>
        </p:txBody>
      </p:sp>
      <p:sp>
        <p:nvSpPr>
          <p:cNvPr id="19" name="Text 17"/>
          <p:cNvSpPr txBox="1"/>
          <p:nvPr/>
        </p:nvSpPr>
        <p:spPr>
          <a:xfrm>
            <a:off x="8046720" y="4151376"/>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confidence with a reason attached</a:t>
            </a:r>
            <a:endParaRPr lang="en-US" sz="1100" dirty="0"/>
          </a:p>
        </p:txBody>
      </p:sp>
      <p:sp>
        <p:nvSpPr>
          <p:cNvPr id="20" name="Text 18"/>
          <p:cNvSpPr txBox="1"/>
          <p:nvPr/>
        </p:nvSpPr>
        <p:spPr>
          <a:xfrm>
            <a:off x="7772400" y="4453128"/>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21" name="Text 19"/>
          <p:cNvSpPr txBox="1"/>
          <p:nvPr/>
        </p:nvSpPr>
        <p:spPr>
          <a:xfrm>
            <a:off x="8046720" y="4434840"/>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The rejected alternative, with arithmetic</a:t>
            </a:r>
            <a:endParaRPr lang="en-US" sz="1250" dirty="0"/>
          </a:p>
        </p:txBody>
      </p:sp>
      <p:sp>
        <p:nvSpPr>
          <p:cNvPr id="22" name="Text 20"/>
          <p:cNvSpPr txBox="1"/>
          <p:nvPr/>
        </p:nvSpPr>
        <p:spPr>
          <a:xfrm>
            <a:off x="8046720" y="4681728"/>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why not Capesize</a:t>
            </a:r>
            <a:endParaRPr lang="en-US" sz="1100" dirty="0"/>
          </a:p>
        </p:txBody>
      </p:sp>
      <p:sp>
        <p:nvSpPr>
          <p:cNvPr id="23" name="Text 21"/>
          <p:cNvSpPr txBox="1"/>
          <p:nvPr/>
        </p:nvSpPr>
        <p:spPr>
          <a:xfrm>
            <a:off x="7772400" y="4983480"/>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24" name="Text 22"/>
          <p:cNvSpPr txBox="1"/>
          <p:nvPr/>
        </p:nvSpPr>
        <p:spPr>
          <a:xfrm>
            <a:off x="8046720" y="4965192"/>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An expiry date</a:t>
            </a:r>
            <a:endParaRPr lang="en-US" sz="1250" dirty="0"/>
          </a:p>
        </p:txBody>
      </p:sp>
      <p:sp>
        <p:nvSpPr>
          <p:cNvPr id="25" name="Text 23"/>
          <p:cNvSpPr txBox="1"/>
          <p:nvPr/>
        </p:nvSpPr>
        <p:spPr>
          <a:xfrm>
            <a:off x="8046720" y="5212080"/>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decisions go stale</a:t>
            </a:r>
            <a:endParaRPr lang="en-US" sz="1100" dirty="0"/>
          </a:p>
        </p:txBody>
      </p:sp>
      <p:sp>
        <p:nvSpPr>
          <p:cNvPr id="26" name="Text 24"/>
          <p:cNvSpPr txBox="1"/>
          <p:nvPr/>
        </p:nvSpPr>
        <p:spPr>
          <a:xfrm>
            <a:off x="7772400" y="5513832"/>
            <a:ext cx="228600" cy="256032"/>
          </a:xfrm>
          <a:prstGeom prst="rect">
            <a:avLst/>
          </a:prstGeom>
          <a:noFill/>
          <a:ln/>
        </p:spPr>
        <p:txBody>
          <a:bodyPr wrap="square" lIns="0" tIns="0" rIns="0" bIns="0" rtlCol="0" anchor="ctr"/>
          <a:lstStyle/>
          <a:p>
            <a:pPr indent="0" marL="0">
              <a:buNone/>
            </a:pPr>
            <a:r>
              <a:rPr lang="en-US" sz="1200" dirty="0">
                <a:solidFill>
                  <a:srgbClr val="FF8A3D"/>
                </a:solidFill>
                <a:latin typeface="Arial" pitchFamily="34" charset="0"/>
                <a:ea typeface="Arial" pitchFamily="34" charset="-122"/>
                <a:cs typeface="Arial" pitchFamily="34" charset="-120"/>
              </a:rPr>
              <a:t>→</a:t>
            </a:r>
            <a:endParaRPr lang="en-US" sz="1200" dirty="0"/>
          </a:p>
        </p:txBody>
      </p:sp>
      <p:sp>
        <p:nvSpPr>
          <p:cNvPr id="27" name="Text 25"/>
          <p:cNvSpPr txBox="1"/>
          <p:nvPr/>
        </p:nvSpPr>
        <p:spPr>
          <a:xfrm>
            <a:off x="8046720" y="5495544"/>
            <a:ext cx="365760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Full provenance on every figure</a:t>
            </a:r>
            <a:endParaRPr lang="en-US" sz="1250" dirty="0"/>
          </a:p>
        </p:txBody>
      </p:sp>
      <p:sp>
        <p:nvSpPr>
          <p:cNvPr id="28" name="Text 26"/>
          <p:cNvSpPr txBox="1"/>
          <p:nvPr/>
        </p:nvSpPr>
        <p:spPr>
          <a:xfrm>
            <a:off x="8046720" y="5742432"/>
            <a:ext cx="3657600" cy="27432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source, licence, timestamp</a:t>
            </a:r>
            <a:endParaRPr lang="en-US" sz="1100" dirty="0"/>
          </a:p>
        </p:txBody>
      </p:sp>
      <p:sp>
        <p:nvSpPr>
          <p:cNvPr id="29" name="Text 27"/>
          <p:cNvSpPr txBox="1"/>
          <p:nvPr/>
        </p:nvSpPr>
        <p:spPr>
          <a:xfrm>
            <a:off x="548640" y="6345936"/>
            <a:ext cx="10424160" cy="274320"/>
          </a:xfrm>
          <a:prstGeom prst="rect">
            <a:avLst/>
          </a:prstGeom>
          <a:noFill/>
          <a:ln/>
        </p:spPr>
        <p:txBody>
          <a:bodyPr wrap="square" lIns="0" tIns="0" rIns="0" bIns="0" rtlCol="0" anchor="ctr"/>
          <a:lstStyle/>
          <a:p>
            <a:pPr indent="0" marL="0">
              <a:buNone/>
            </a:pPr>
            <a:r>
              <a:rPr lang="en-US" sz="900" dirty="0">
                <a:solidFill>
                  <a:srgbClr val="5C6D7A"/>
                </a:solidFill>
                <a:latin typeface="Courier New" pitchFamily="34" charset="0"/>
                <a:ea typeface="Courier New" pitchFamily="34" charset="-122"/>
                <a:cs typeface="Courier New" pitchFamily="34" charset="-120"/>
              </a:rPr>
              <a:t>Illustrative scenario. The test: a procurement head can forward this to their director unedited.</a:t>
            </a:r>
            <a:endParaRPr lang="en-US" sz="900" dirty="0"/>
          </a:p>
        </p:txBody>
      </p:sp>
      <p:sp>
        <p:nvSpPr>
          <p:cNvPr id="30" name="Text 28"/>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06 / WHY BIGGER ISN'T CHEAPER</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The calculation the industry gets wrong</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A port's draft limit is really a cargo limit. Ignore it and you recommend a vessel that pays for capacity it cannot load.</a:t>
            </a:r>
            <a:endParaRPr lang="en-US" sz="1450" dirty="0"/>
          </a:p>
        </p:txBody>
      </p:sp>
      <p:sp>
        <p:nvSpPr>
          <p:cNvPr id="5" name="Shape 3"/>
          <p:cNvSpPr/>
          <p:nvPr/>
        </p:nvSpPr>
        <p:spPr>
          <a:xfrm>
            <a:off x="548640" y="2148840"/>
            <a:ext cx="5623560" cy="3200400"/>
          </a:xfrm>
          <a:prstGeom prst="roundRect">
            <a:avLst>
              <a:gd name="adj" fmla="val 1714"/>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22960" y="2331720"/>
            <a:ext cx="274320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DRAFT → TONNES</a:t>
            </a:r>
            <a:endParaRPr lang="en-US" sz="1000" dirty="0"/>
          </a:p>
        </p:txBody>
      </p:sp>
      <p:sp>
        <p:nvSpPr>
          <p:cNvPr id="7" name="Text 5"/>
          <p:cNvSpPr txBox="1"/>
          <p:nvPr/>
        </p:nvSpPr>
        <p:spPr>
          <a:xfrm>
            <a:off x="822960" y="2697480"/>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d_max     = permissible_draft − UKC</a:t>
            </a:r>
            <a:endParaRPr lang="en-US" sz="1100" dirty="0"/>
          </a:p>
        </p:txBody>
      </p:sp>
      <p:sp>
        <p:nvSpPr>
          <p:cNvPr id="8" name="Text 6"/>
          <p:cNvSpPr txBox="1"/>
          <p:nvPr/>
        </p:nvSpPr>
        <p:spPr>
          <a:xfrm>
            <a:off x="822960" y="2935224"/>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ΔDWT      = TPC × 100 × (summer_draft − d_max)</a:t>
            </a:r>
            <a:endParaRPr lang="en-US" sz="1100" dirty="0"/>
          </a:p>
        </p:txBody>
      </p:sp>
      <p:sp>
        <p:nvSpPr>
          <p:cNvPr id="9" name="Text 7"/>
          <p:cNvSpPr txBox="1"/>
          <p:nvPr/>
        </p:nvSpPr>
        <p:spPr>
          <a:xfrm>
            <a:off x="822960" y="3172968"/>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DWT_avail = summer_DWT − ΔDWT</a:t>
            </a:r>
            <a:endParaRPr lang="en-US" sz="1100" dirty="0"/>
          </a:p>
        </p:txBody>
      </p:sp>
      <p:sp>
        <p:nvSpPr>
          <p:cNvPr id="10" name="Text 8"/>
          <p:cNvSpPr txBox="1"/>
          <p:nvPr/>
        </p:nvSpPr>
        <p:spPr>
          <a:xfrm>
            <a:off x="822960" y="3410712"/>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cargo     = DWT_avail − bunkers − water</a:t>
            </a:r>
            <a:endParaRPr lang="en-US" sz="1100" dirty="0"/>
          </a:p>
        </p:txBody>
      </p:sp>
      <p:sp>
        <p:nvSpPr>
          <p:cNvPr id="11" name="Text 9"/>
          <p:cNvSpPr txBox="1"/>
          <p:nvPr/>
        </p:nvSpPr>
        <p:spPr>
          <a:xfrm>
            <a:off x="822960" y="3648456"/>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            − stores − constants</a:t>
            </a:r>
            <a:endParaRPr lang="en-US" sz="1100" dirty="0"/>
          </a:p>
        </p:txBody>
      </p:sp>
      <p:sp>
        <p:nvSpPr>
          <p:cNvPr id="12" name="Text 10"/>
          <p:cNvSpPr txBox="1"/>
          <p:nvPr/>
        </p:nvSpPr>
        <p:spPr>
          <a:xfrm>
            <a:off x="822960" y="3886200"/>
            <a:ext cx="5120640" cy="237744"/>
          </a:xfrm>
          <a:prstGeom prst="rect">
            <a:avLst/>
          </a:prstGeom>
          <a:noFill/>
          <a:ln/>
        </p:spPr>
        <p:txBody>
          <a:bodyPr wrap="square" lIns="0" tIns="0" rIns="0" bIns="0" rtlCol="0" anchor="ctr"/>
          <a:lstStyle/>
          <a:p>
            <a:pPr indent="0" marL="0">
              <a:buNone/>
            </a:pPr>
            <a:endParaRPr lang="en-US" sz="1100" dirty="0"/>
          </a:p>
        </p:txBody>
      </p:sp>
      <p:sp>
        <p:nvSpPr>
          <p:cNvPr id="13" name="Text 11"/>
          <p:cNvSpPr txBox="1"/>
          <p:nvPr/>
        </p:nvSpPr>
        <p:spPr>
          <a:xfrm>
            <a:off x="822960" y="4123944"/>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FWA_mm = displacement / (4 × TPC)</a:t>
            </a:r>
            <a:endParaRPr lang="en-US" sz="1100" dirty="0"/>
          </a:p>
        </p:txBody>
      </p:sp>
      <p:sp>
        <p:nvSpPr>
          <p:cNvPr id="14" name="Text 12"/>
          <p:cNvSpPr txBox="1"/>
          <p:nvPr/>
        </p:nvSpPr>
        <p:spPr>
          <a:xfrm>
            <a:off x="822960" y="4361688"/>
            <a:ext cx="5120640" cy="237744"/>
          </a:xfrm>
          <a:prstGeom prst="rect">
            <a:avLst/>
          </a:prstGeom>
          <a:noFill/>
          <a:ln/>
        </p:spPr>
        <p:txBody>
          <a:bodyPr wrap="square" lIns="0" tIns="0" rIns="0" bIns="0" rtlCol="0" anchor="ctr"/>
          <a:lstStyle/>
          <a:p>
            <a:pPr indent="0" marL="0">
              <a:buNone/>
            </a:pPr>
            <a:r>
              <a:rPr lang="en-US" sz="1100" dirty="0">
                <a:solidFill>
                  <a:srgbClr val="F2F5F7"/>
                </a:solidFill>
                <a:latin typeface="Courier New" pitchFamily="34" charset="0"/>
                <a:ea typeface="Courier New" pitchFamily="34" charset="-122"/>
                <a:cs typeface="Courier New" pitchFamily="34" charset="-120"/>
              </a:rPr>
              <a:t>DWA_mm = FWA_mm × (1025 − ρ_dock) / 25</a:t>
            </a:r>
            <a:endParaRPr lang="en-US" sz="1100" dirty="0"/>
          </a:p>
        </p:txBody>
      </p:sp>
      <p:sp>
        <p:nvSpPr>
          <p:cNvPr id="15" name="Text 13"/>
          <p:cNvSpPr txBox="1"/>
          <p:nvPr/>
        </p:nvSpPr>
        <p:spPr>
          <a:xfrm>
            <a:off x="822960" y="4599432"/>
            <a:ext cx="5120640" cy="237744"/>
          </a:xfrm>
          <a:prstGeom prst="rect">
            <a:avLst/>
          </a:prstGeom>
          <a:noFill/>
          <a:ln/>
        </p:spPr>
        <p:txBody>
          <a:bodyPr wrap="square" lIns="0" tIns="0" rIns="0" bIns="0" rtlCol="0" anchor="ctr"/>
          <a:lstStyle/>
          <a:p>
            <a:pPr indent="0" marL="0">
              <a:buNone/>
            </a:pPr>
            <a:endParaRPr lang="en-US" sz="1100" dirty="0"/>
          </a:p>
        </p:txBody>
      </p:sp>
      <p:sp>
        <p:nvSpPr>
          <p:cNvPr id="16" name="Text 14"/>
          <p:cNvSpPr txBox="1"/>
          <p:nvPr/>
        </p:nvSpPr>
        <p:spPr>
          <a:xfrm>
            <a:off x="822960" y="4837176"/>
            <a:ext cx="5120640" cy="237744"/>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INTAKE = min(weight_limited, volume_limited)</a:t>
            </a:r>
            <a:endParaRPr lang="en-US" sz="1100" dirty="0"/>
          </a:p>
        </p:txBody>
      </p:sp>
      <p:sp>
        <p:nvSpPr>
          <p:cNvPr id="17" name="Shape 15"/>
          <p:cNvSpPr/>
          <p:nvPr/>
        </p:nvSpPr>
        <p:spPr>
          <a:xfrm>
            <a:off x="6720840" y="2148840"/>
            <a:ext cx="4892040" cy="3200400"/>
          </a:xfrm>
          <a:prstGeom prst="roundRect">
            <a:avLst>
              <a:gd name="adj" fmla="val 1714"/>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6949440" y="2331720"/>
            <a:ext cx="4480560" cy="274320"/>
          </a:xfrm>
          <a:prstGeom prst="rect">
            <a:avLst/>
          </a:prstGeom>
          <a:noFill/>
          <a:ln/>
        </p:spPr>
        <p:txBody>
          <a:bodyPr wrap="square" lIns="0" tIns="0" rIns="0" bIns="0" rtlCol="0" anchor="ctr"/>
          <a:lstStyle/>
          <a:p>
            <a:pPr indent="0" marL="0">
              <a:buNone/>
            </a:pPr>
            <a:r>
              <a:rPr lang="en-US" sz="950" spc="100" kern="0" dirty="0">
                <a:solidFill>
                  <a:srgbClr val="FF8A3D"/>
                </a:solidFill>
                <a:latin typeface="Courier New" pitchFamily="34" charset="0"/>
                <a:ea typeface="Courier New" pitchFamily="34" charset="-122"/>
                <a:cs typeface="Courier New" pitchFamily="34" charset="-120"/>
              </a:rPr>
              <a:t>WORKED EXAMPLE · CAPESIZE AT A DRAFT-LIMITED PORT</a:t>
            </a:r>
            <a:endParaRPr lang="en-US" sz="950" dirty="0"/>
          </a:p>
        </p:txBody>
      </p:sp>
      <p:sp>
        <p:nvSpPr>
          <p:cNvPr id="19" name="Text 17"/>
          <p:cNvSpPr txBox="1"/>
          <p:nvPr/>
        </p:nvSpPr>
        <p:spPr>
          <a:xfrm>
            <a:off x="6949440" y="269748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Summer deadweight</a:t>
            </a:r>
            <a:endParaRPr lang="en-US" sz="1150" dirty="0"/>
          </a:p>
        </p:txBody>
      </p:sp>
      <p:sp>
        <p:nvSpPr>
          <p:cNvPr id="20" name="Text 18"/>
          <p:cNvSpPr txBox="1"/>
          <p:nvPr/>
        </p:nvSpPr>
        <p:spPr>
          <a:xfrm>
            <a:off x="10058400" y="267919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180,000 mt</a:t>
            </a:r>
            <a:endParaRPr lang="en-US" sz="1150" dirty="0"/>
          </a:p>
        </p:txBody>
      </p:sp>
      <p:sp>
        <p:nvSpPr>
          <p:cNvPr id="21" name="Text 19"/>
          <p:cNvSpPr txBox="1"/>
          <p:nvPr/>
        </p:nvSpPr>
        <p:spPr>
          <a:xfrm>
            <a:off x="6949440" y="297180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Summer draft</a:t>
            </a:r>
            <a:endParaRPr lang="en-US" sz="1150" dirty="0"/>
          </a:p>
        </p:txBody>
      </p:sp>
      <p:sp>
        <p:nvSpPr>
          <p:cNvPr id="22" name="Text 20"/>
          <p:cNvSpPr txBox="1"/>
          <p:nvPr/>
        </p:nvSpPr>
        <p:spPr>
          <a:xfrm>
            <a:off x="10058400" y="295351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18.0 m</a:t>
            </a:r>
            <a:endParaRPr lang="en-US" sz="1150" dirty="0"/>
          </a:p>
        </p:txBody>
      </p:sp>
      <p:sp>
        <p:nvSpPr>
          <p:cNvPr id="23" name="Text 21"/>
          <p:cNvSpPr txBox="1"/>
          <p:nvPr/>
        </p:nvSpPr>
        <p:spPr>
          <a:xfrm>
            <a:off x="6949440" y="324612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Permissible draft (illustrative)</a:t>
            </a:r>
            <a:endParaRPr lang="en-US" sz="1150" dirty="0"/>
          </a:p>
        </p:txBody>
      </p:sp>
      <p:sp>
        <p:nvSpPr>
          <p:cNvPr id="24" name="Text 22"/>
          <p:cNvSpPr txBox="1"/>
          <p:nvPr/>
        </p:nvSpPr>
        <p:spPr>
          <a:xfrm>
            <a:off x="10058400" y="322783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14.5 m</a:t>
            </a:r>
            <a:endParaRPr lang="en-US" sz="1150" dirty="0"/>
          </a:p>
        </p:txBody>
      </p:sp>
      <p:sp>
        <p:nvSpPr>
          <p:cNvPr id="25" name="Text 23"/>
          <p:cNvSpPr txBox="1"/>
          <p:nvPr/>
        </p:nvSpPr>
        <p:spPr>
          <a:xfrm>
            <a:off x="6949440" y="352044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Under-keel clearance</a:t>
            </a:r>
            <a:endParaRPr lang="en-US" sz="1150" dirty="0"/>
          </a:p>
        </p:txBody>
      </p:sp>
      <p:sp>
        <p:nvSpPr>
          <p:cNvPr id="26" name="Text 24"/>
          <p:cNvSpPr txBox="1"/>
          <p:nvPr/>
        </p:nvSpPr>
        <p:spPr>
          <a:xfrm>
            <a:off x="10058400" y="350215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0.6 m</a:t>
            </a:r>
            <a:endParaRPr lang="en-US" sz="1150" dirty="0"/>
          </a:p>
        </p:txBody>
      </p:sp>
      <p:sp>
        <p:nvSpPr>
          <p:cNvPr id="27" name="Text 25"/>
          <p:cNvSpPr txBox="1"/>
          <p:nvPr/>
        </p:nvSpPr>
        <p:spPr>
          <a:xfrm>
            <a:off x="6949440" y="379476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TPC</a:t>
            </a:r>
            <a:endParaRPr lang="en-US" sz="1150" dirty="0"/>
          </a:p>
        </p:txBody>
      </p:sp>
      <p:sp>
        <p:nvSpPr>
          <p:cNvPr id="28" name="Text 26"/>
          <p:cNvSpPr txBox="1"/>
          <p:nvPr/>
        </p:nvSpPr>
        <p:spPr>
          <a:xfrm>
            <a:off x="10058400" y="377647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130 mt/cm</a:t>
            </a:r>
            <a:endParaRPr lang="en-US" sz="1150" dirty="0"/>
          </a:p>
        </p:txBody>
      </p:sp>
      <p:sp>
        <p:nvSpPr>
          <p:cNvPr id="29" name="Text 27"/>
          <p:cNvSpPr txBox="1"/>
          <p:nvPr/>
        </p:nvSpPr>
        <p:spPr>
          <a:xfrm>
            <a:off x="6949440" y="406908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Deadweight sacrificed</a:t>
            </a:r>
            <a:endParaRPr lang="en-US" sz="1150" dirty="0"/>
          </a:p>
        </p:txBody>
      </p:sp>
      <p:sp>
        <p:nvSpPr>
          <p:cNvPr id="30" name="Text 28"/>
          <p:cNvSpPr txBox="1"/>
          <p:nvPr/>
        </p:nvSpPr>
        <p:spPr>
          <a:xfrm>
            <a:off x="10058400" y="405079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−53,300 mt</a:t>
            </a:r>
            <a:endParaRPr lang="en-US" sz="1150" dirty="0"/>
          </a:p>
        </p:txBody>
      </p:sp>
      <p:sp>
        <p:nvSpPr>
          <p:cNvPr id="31" name="Text 29"/>
          <p:cNvSpPr txBox="1"/>
          <p:nvPr/>
        </p:nvSpPr>
        <p:spPr>
          <a:xfrm>
            <a:off x="6949440" y="4343400"/>
            <a:ext cx="3108960" cy="256032"/>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Less constants and bunkers</a:t>
            </a:r>
            <a:endParaRPr lang="en-US" sz="1150" dirty="0"/>
          </a:p>
        </p:txBody>
      </p:sp>
      <p:sp>
        <p:nvSpPr>
          <p:cNvPr id="32" name="Text 30"/>
          <p:cNvSpPr txBox="1"/>
          <p:nvPr/>
        </p:nvSpPr>
        <p:spPr>
          <a:xfrm>
            <a:off x="10058400" y="4325112"/>
            <a:ext cx="1371600" cy="256032"/>
          </a:xfrm>
          <a:prstGeom prst="rect">
            <a:avLst/>
          </a:prstGeom>
          <a:noFill/>
          <a:ln/>
        </p:spPr>
        <p:txBody>
          <a:bodyPr wrap="square" lIns="0" tIns="0" rIns="0" bIns="0" rtlCol="0" anchor="ctr"/>
          <a:lstStyle/>
          <a:p>
            <a:pPr algn="r" indent="0" marL="0">
              <a:buNone/>
            </a:pPr>
            <a:r>
              <a:rPr lang="en-US" sz="1150" dirty="0">
                <a:solidFill>
                  <a:srgbClr val="F2F5F7"/>
                </a:solidFill>
                <a:latin typeface="Courier New" pitchFamily="34" charset="0"/>
                <a:ea typeface="Courier New" pitchFamily="34" charset="-122"/>
                <a:cs typeface="Courier New" pitchFamily="34" charset="-120"/>
              </a:rPr>
              <a:t>−6,500 mt</a:t>
            </a:r>
            <a:endParaRPr lang="en-US" sz="1150" dirty="0"/>
          </a:p>
        </p:txBody>
      </p:sp>
      <p:sp>
        <p:nvSpPr>
          <p:cNvPr id="33" name="Text 31"/>
          <p:cNvSpPr txBox="1"/>
          <p:nvPr/>
        </p:nvSpPr>
        <p:spPr>
          <a:xfrm>
            <a:off x="6949440" y="4645152"/>
            <a:ext cx="2194560" cy="32004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MAX INTAKE</a:t>
            </a:r>
            <a:endParaRPr lang="en-US" sz="1400" dirty="0"/>
          </a:p>
        </p:txBody>
      </p:sp>
      <p:sp>
        <p:nvSpPr>
          <p:cNvPr id="34" name="Text 32"/>
          <p:cNvSpPr txBox="1"/>
          <p:nvPr/>
        </p:nvSpPr>
        <p:spPr>
          <a:xfrm>
            <a:off x="8778240" y="4617720"/>
            <a:ext cx="2651760" cy="365760"/>
          </a:xfrm>
          <a:prstGeom prst="rect">
            <a:avLst/>
          </a:prstGeom>
          <a:noFill/>
          <a:ln/>
        </p:spPr>
        <p:txBody>
          <a:bodyPr wrap="square" lIns="0" tIns="0" rIns="0" bIns="0" rtlCol="0" anchor="ctr"/>
          <a:lstStyle/>
          <a:p>
            <a:pPr algn="r" indent="0" marL="0">
              <a:buNone/>
            </a:pPr>
            <a:r>
              <a:rPr lang="en-US" sz="1700" b="1" dirty="0">
                <a:solidFill>
                  <a:srgbClr val="FF8A3D"/>
                </a:solidFill>
                <a:latin typeface="Courier New" pitchFamily="34" charset="0"/>
                <a:ea typeface="Courier New" pitchFamily="34" charset="-122"/>
                <a:cs typeface="Courier New" pitchFamily="34" charset="-120"/>
              </a:rPr>
              <a:t>≈ 120,200 mt</a:t>
            </a:r>
            <a:endParaRPr lang="en-US" sz="1700" dirty="0"/>
          </a:p>
        </p:txBody>
      </p:sp>
      <p:sp>
        <p:nvSpPr>
          <p:cNvPr id="35" name="Text 33"/>
          <p:cNvSpPr txBox="1"/>
          <p:nvPr/>
        </p:nvSpPr>
        <p:spPr>
          <a:xfrm>
            <a:off x="6949440" y="4992624"/>
            <a:ext cx="4480560" cy="41148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67% of the ship you are paying for. Scale economy gone — and full intake means lightering at anchorage, which costs money and days.</a:t>
            </a:r>
            <a:endParaRPr lang="en-US" sz="1050" dirty="0"/>
          </a:p>
        </p:txBody>
      </p:sp>
      <p:sp>
        <p:nvSpPr>
          <p:cNvPr id="36" name="Text 34"/>
          <p:cNvSpPr txBox="1"/>
          <p:nvPr/>
        </p:nvSpPr>
        <p:spPr>
          <a:xfrm>
            <a:off x="548640" y="5623560"/>
            <a:ext cx="11064240" cy="365760"/>
          </a:xfrm>
          <a:prstGeom prst="rect">
            <a:avLst/>
          </a:prstGeom>
          <a:noFill/>
          <a:ln/>
        </p:spPr>
        <p:txBody>
          <a:bodyPr wrap="square" lIns="0" tIns="0" rIns="0" bIns="0" rtlCol="0" anchor="ctr"/>
          <a:lstStyle/>
          <a:p>
            <a:pPr indent="0" marL="0">
              <a:buNone/>
            </a:pPr>
            <a:r>
              <a:rPr lang="en-US" sz="1400" b="1" dirty="0">
                <a:solidFill>
                  <a:srgbClr val="4FD1C5"/>
                </a:solidFill>
                <a:latin typeface="Arial" pitchFamily="34" charset="0"/>
                <a:ea typeface="Arial" pitchFamily="34" charset="-122"/>
                <a:cs typeface="Arial" pitchFamily="34" charset="-120"/>
              </a:rPr>
              <a:t>Feasibility is a hard constraint, never a penalty. A vessel that cannot berth is not a worse answer — it is a wrong answer.</a:t>
            </a:r>
            <a:endParaRPr lang="en-US" sz="1400" dirty="0"/>
          </a:p>
        </p:txBody>
      </p:sp>
      <p:sp>
        <p:nvSpPr>
          <p:cNvPr id="37" name="Text 35"/>
          <p:cNvSpPr txBox="1"/>
          <p:nvPr/>
        </p:nvSpPr>
        <p:spPr>
          <a:xfrm>
            <a:off x="548640" y="6345936"/>
            <a:ext cx="10424160" cy="274320"/>
          </a:xfrm>
          <a:prstGeom prst="rect">
            <a:avLst/>
          </a:prstGeom>
          <a:noFill/>
          <a:ln/>
        </p:spPr>
        <p:txBody>
          <a:bodyPr wrap="square" lIns="0" tIns="0" rIns="0" bIns="0" rtlCol="0" anchor="ctr"/>
          <a:lstStyle/>
          <a:p>
            <a:pPr indent="0" marL="0">
              <a:buNone/>
            </a:pPr>
            <a:r>
              <a:rPr lang="en-US" sz="900" dirty="0">
                <a:solidFill>
                  <a:srgbClr val="5C6D7A"/>
                </a:solidFill>
                <a:latin typeface="Courier New" pitchFamily="34" charset="0"/>
                <a:ea typeface="Courier New" pitchFamily="34" charset="-122"/>
                <a:cs typeface="Courier New" pitchFamily="34" charset="-120"/>
              </a:rPr>
              <a:t>Draft figure illustrative pending verification (VERIFY-FIRST V3). Method is exact.</a:t>
            </a:r>
            <a:endParaRPr lang="en-US" sz="900" dirty="0"/>
          </a:p>
        </p:txBody>
      </p:sp>
      <p:sp>
        <p:nvSpPr>
          <p:cNvPr id="39" name="Text 36"/>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07 / ARCHITECTURE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Two layers, one rule that makes it trustworthy</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The reasoning layer decides what to ask. The deterministic core decides what is true.</a:t>
            </a:r>
            <a:endParaRPr lang="en-US" sz="1450" dirty="0"/>
          </a:p>
        </p:txBody>
      </p:sp>
      <p:sp>
        <p:nvSpPr>
          <p:cNvPr id="5" name="Shape 3"/>
          <p:cNvSpPr/>
          <p:nvPr/>
        </p:nvSpPr>
        <p:spPr>
          <a:xfrm>
            <a:off x="548640" y="1920240"/>
            <a:ext cx="11064240" cy="1417320"/>
          </a:xfrm>
          <a:prstGeom prst="roundRect">
            <a:avLst>
              <a:gd name="adj" fmla="val 3871"/>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68680" y="2084832"/>
            <a:ext cx="6400800" cy="292608"/>
          </a:xfrm>
          <a:prstGeom prst="rect">
            <a:avLst/>
          </a:prstGeom>
          <a:noFill/>
          <a:ln/>
        </p:spPr>
        <p:txBody>
          <a:bodyPr wrap="square" lIns="0" tIns="0" rIns="0" bIns="0" rtlCol="0" anchor="ctr"/>
          <a:lstStyle/>
          <a:p>
            <a:pPr indent="0" marL="0">
              <a:buNone/>
            </a:pPr>
            <a:r>
              <a:rPr lang="en-US" sz="1500" b="1" dirty="0">
                <a:solidFill>
                  <a:srgbClr val="F2F5F7"/>
                </a:solidFill>
                <a:latin typeface="Arial" pitchFamily="34" charset="0"/>
                <a:ea typeface="Arial" pitchFamily="34" charset="-122"/>
                <a:cs typeface="Arial" pitchFamily="34" charset="-120"/>
              </a:rPr>
              <a:t>REASONING LAYER · LLM agents on a typed graph</a:t>
            </a:r>
            <a:endParaRPr lang="en-US" sz="1500" dirty="0"/>
          </a:p>
        </p:txBody>
      </p:sp>
      <p:sp>
        <p:nvSpPr>
          <p:cNvPr id="7" name="Text 5"/>
          <p:cNvSpPr txBox="1"/>
          <p:nvPr/>
        </p:nvSpPr>
        <p:spPr>
          <a:xfrm>
            <a:off x="868680" y="2395728"/>
            <a:ext cx="6400800" cy="274320"/>
          </a:xfrm>
          <a:prstGeom prst="rect">
            <a:avLst/>
          </a:prstGeom>
          <a:noFill/>
          <a:ln/>
        </p:spPr>
        <p:txBody>
          <a:bodyPr wrap="square" lIns="0" tIns="0" rIns="0" bIns="0" rtlCol="0" anchor="ctr"/>
          <a:lstStyle/>
          <a:p>
            <a:pPr indent="0" marL="0">
              <a:buNone/>
            </a:pPr>
            <a:r>
              <a:rPr lang="en-US" sz="1250" dirty="0">
                <a:solidFill>
                  <a:srgbClr val="8A9BA8"/>
                </a:solidFill>
                <a:latin typeface="Arial" pitchFamily="34" charset="0"/>
                <a:ea typeface="Arial" pitchFamily="34" charset="-122"/>
                <a:cs typeface="Arial" pitchFamily="34" charset="-120"/>
              </a:rPr>
              <a:t>Gathers · interprets · challenges · explains · narrates</a:t>
            </a:r>
            <a:endParaRPr lang="en-US" sz="1250" dirty="0"/>
          </a:p>
        </p:txBody>
      </p:sp>
      <p:sp>
        <p:nvSpPr>
          <p:cNvPr id="8" name="Text 6"/>
          <p:cNvSpPr txBox="1"/>
          <p:nvPr/>
        </p:nvSpPr>
        <p:spPr>
          <a:xfrm>
            <a:off x="868680" y="2761488"/>
            <a:ext cx="6400800" cy="320040"/>
          </a:xfrm>
          <a:prstGeom prst="rect">
            <a:avLst/>
          </a:prstGeom>
          <a:noFill/>
          <a:ln/>
        </p:spPr>
        <p:txBody>
          <a:bodyPr wrap="square" lIns="0" tIns="0" rIns="0" bIns="0" rtlCol="0" anchor="ctr"/>
          <a:lstStyle/>
          <a:p>
            <a:pPr indent="0" marL="0">
              <a:buNone/>
            </a:pPr>
            <a:r>
              <a:rPr lang="en-US" sz="1300" b="1" dirty="0">
                <a:solidFill>
                  <a:srgbClr val="E5484D"/>
                </a:solidFill>
                <a:latin typeface="Courier New" pitchFamily="34" charset="0"/>
                <a:ea typeface="Courier New" pitchFamily="34" charset="-122"/>
                <a:cs typeface="Courier New" pitchFamily="34" charset="-120"/>
              </a:rPr>
              <a:t>MAY NOT COMPUTE.  MAY NOT EMIT A NUMERAL.</a:t>
            </a:r>
            <a:endParaRPr lang="en-US" sz="1300" dirty="0"/>
          </a:p>
        </p:txBody>
      </p:sp>
      <p:sp>
        <p:nvSpPr>
          <p:cNvPr id="9" name="Text 7"/>
          <p:cNvSpPr txBox="1"/>
          <p:nvPr/>
        </p:nvSpPr>
        <p:spPr>
          <a:xfrm>
            <a:off x="7863840" y="2212848"/>
            <a:ext cx="3383280" cy="640080"/>
          </a:xfrm>
          <a:prstGeom prst="rect">
            <a:avLst/>
          </a:prstGeom>
          <a:noFill/>
          <a:ln/>
        </p:spPr>
        <p:txBody>
          <a:bodyPr wrap="square" lIns="0" tIns="0" rIns="0" bIns="0" rtlCol="0" anchor="ctr"/>
          <a:lstStyle/>
          <a:p>
            <a:pPr algn="r" indent="0" marL="0">
              <a:buNone/>
            </a:pPr>
            <a:r>
              <a:rPr lang="en-US" sz="1200" dirty="0">
                <a:solidFill>
                  <a:srgbClr val="8A9BA8"/>
                </a:solidFill>
                <a:latin typeface="Arial" pitchFamily="34" charset="0"/>
                <a:ea typeface="Arial" pitchFamily="34" charset="-122"/>
                <a:cs typeface="Arial" pitchFamily="34" charset="-120"/>
              </a:rPr>
              <a:t>Enforced by a Pydantic validator</a:t>
            </a:r>
            <a:endParaRPr lang="en-US" sz="1200" dirty="0"/>
          </a:p>
          <a:p>
            <a:pPr algn="r" indent="0" marL="0">
              <a:buNone/>
            </a:pPr>
            <a:r>
              <a:rPr lang="en-US" sz="1200" dirty="0">
                <a:solidFill>
                  <a:srgbClr val="8A9BA8"/>
                </a:solidFill>
                <a:latin typeface="Arial" pitchFamily="34" charset="0"/>
                <a:ea typeface="Arial" pitchFamily="34" charset="-122"/>
                <a:cs typeface="Arial" pitchFamily="34" charset="-120"/>
              </a:rPr>
              <a:t>and a CI check. Not by convention.</a:t>
            </a:r>
            <a:endParaRPr lang="en-US" sz="1200" dirty="0"/>
          </a:p>
        </p:txBody>
      </p:sp>
      <p:sp>
        <p:nvSpPr>
          <p:cNvPr id="10" name="Text 8"/>
          <p:cNvSpPr txBox="1"/>
          <p:nvPr/>
        </p:nvSpPr>
        <p:spPr>
          <a:xfrm>
            <a:off x="548640" y="3429000"/>
            <a:ext cx="11064240" cy="274320"/>
          </a:xfrm>
          <a:prstGeom prst="rect">
            <a:avLst/>
          </a:prstGeom>
          <a:noFill/>
          <a:ln/>
        </p:spPr>
        <p:txBody>
          <a:bodyPr wrap="square" lIns="0" tIns="0" rIns="0" bIns="0" rtlCol="0" anchor="ctr"/>
          <a:lstStyle/>
          <a:p>
            <a:pPr algn="ctr" indent="0" marL="0">
              <a:buNone/>
            </a:pPr>
            <a:r>
              <a:rPr lang="en-US" sz="1050" dirty="0">
                <a:solidFill>
                  <a:srgbClr val="5C6D7A"/>
                </a:solidFill>
                <a:latin typeface="Courier New" pitchFamily="34" charset="0"/>
                <a:ea typeface="Courier New" pitchFamily="34" charset="-122"/>
                <a:cs typeface="Courier New" pitchFamily="34" charset="-120"/>
              </a:rPr>
              <a:t>typed tool calls  ↓      ↑  typed structured results</a:t>
            </a:r>
            <a:endParaRPr lang="en-US" sz="1050" dirty="0"/>
          </a:p>
        </p:txBody>
      </p:sp>
      <p:sp>
        <p:nvSpPr>
          <p:cNvPr id="11" name="Shape 9"/>
          <p:cNvSpPr/>
          <p:nvPr/>
        </p:nvSpPr>
        <p:spPr>
          <a:xfrm>
            <a:off x="548640" y="3767328"/>
            <a:ext cx="11064240" cy="1965960"/>
          </a:xfrm>
          <a:prstGeom prst="roundRect">
            <a:avLst>
              <a:gd name="adj" fmla="val 2791"/>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868680" y="3931920"/>
            <a:ext cx="8229600" cy="292608"/>
          </a:xfrm>
          <a:prstGeom prst="rect">
            <a:avLst/>
          </a:prstGeom>
          <a:noFill/>
          <a:ln/>
        </p:spPr>
        <p:txBody>
          <a:bodyPr wrap="square" lIns="0" tIns="0" rIns="0" bIns="0" rtlCol="0" anchor="ctr"/>
          <a:lstStyle/>
          <a:p>
            <a:pPr indent="0" marL="0">
              <a:buNone/>
            </a:pPr>
            <a:r>
              <a:rPr lang="en-US" sz="1500" b="1" dirty="0">
                <a:solidFill>
                  <a:srgbClr val="F2F5F7"/>
                </a:solidFill>
                <a:latin typeface="Arial" pitchFamily="34" charset="0"/>
                <a:ea typeface="Arial" pitchFamily="34" charset="-122"/>
                <a:cs typeface="Arial" pitchFamily="34" charset="-120"/>
              </a:rPr>
              <a:t>DETERMINISTIC CORE · pure Python, no LLM, unit- and property-tested</a:t>
            </a:r>
            <a:endParaRPr lang="en-US" sz="1500" dirty="0"/>
          </a:p>
        </p:txBody>
      </p:sp>
      <p:sp>
        <p:nvSpPr>
          <p:cNvPr id="13" name="Text 11"/>
          <p:cNvSpPr txBox="1"/>
          <p:nvPr/>
        </p:nvSpPr>
        <p:spPr>
          <a:xfrm>
            <a:off x="868680" y="4343400"/>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physics/</a:t>
            </a:r>
            <a:endParaRPr lang="en-US" sz="1100" dirty="0"/>
          </a:p>
        </p:txBody>
      </p:sp>
      <p:sp>
        <p:nvSpPr>
          <p:cNvPr id="14" name="Text 12"/>
          <p:cNvSpPr txBox="1"/>
          <p:nvPr/>
        </p:nvSpPr>
        <p:spPr>
          <a:xfrm>
            <a:off x="2148840" y="4343400"/>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draft-limited intake, TPC, FWA, load lines</a:t>
            </a:r>
            <a:endParaRPr lang="en-US" sz="1150" dirty="0"/>
          </a:p>
        </p:txBody>
      </p:sp>
      <p:sp>
        <p:nvSpPr>
          <p:cNvPr id="15" name="Text 13"/>
          <p:cNvSpPr txBox="1"/>
          <p:nvPr/>
        </p:nvSpPr>
        <p:spPr>
          <a:xfrm>
            <a:off x="6309360" y="4343400"/>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voyage/</a:t>
            </a:r>
            <a:endParaRPr lang="en-US" sz="1100" dirty="0"/>
          </a:p>
        </p:txBody>
      </p:sp>
      <p:sp>
        <p:nvSpPr>
          <p:cNvPr id="16" name="Text 14"/>
          <p:cNvSpPr txBox="1"/>
          <p:nvPr/>
        </p:nvSpPr>
        <p:spPr>
          <a:xfrm>
            <a:off x="7589520" y="4343400"/>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TCE, bunkers (cube law), laytime, demurrage</a:t>
            </a:r>
            <a:endParaRPr lang="en-US" sz="1150" dirty="0"/>
          </a:p>
        </p:txBody>
      </p:sp>
      <p:sp>
        <p:nvSpPr>
          <p:cNvPr id="17" name="Text 15"/>
          <p:cNvSpPr txBox="1"/>
          <p:nvPr/>
        </p:nvSpPr>
        <p:spPr>
          <a:xfrm>
            <a:off x="868680" y="4681728"/>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rates/</a:t>
            </a:r>
            <a:endParaRPr lang="en-US" sz="1100" dirty="0"/>
          </a:p>
        </p:txBody>
      </p:sp>
      <p:sp>
        <p:nvSpPr>
          <p:cNvPr id="18" name="Text 16"/>
          <p:cNvSpPr txBox="1"/>
          <p:nvPr/>
        </p:nvSpPr>
        <p:spPr>
          <a:xfrm>
            <a:off x="2148840" y="4681728"/>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OU-jump simulator, calibration, conformal bands</a:t>
            </a:r>
            <a:endParaRPr lang="en-US" sz="1150" dirty="0"/>
          </a:p>
        </p:txBody>
      </p:sp>
      <p:sp>
        <p:nvSpPr>
          <p:cNvPr id="19" name="Text 17"/>
          <p:cNvSpPr txBox="1"/>
          <p:nvPr/>
        </p:nvSpPr>
        <p:spPr>
          <a:xfrm>
            <a:off x="6309360" y="4681728"/>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timing/</a:t>
            </a:r>
            <a:endParaRPr lang="en-US" sz="1100" dirty="0"/>
          </a:p>
        </p:txBody>
      </p:sp>
      <p:sp>
        <p:nvSpPr>
          <p:cNvPr id="20" name="Text 18"/>
          <p:cNvSpPr txBox="1"/>
          <p:nvPr/>
        </p:nvSpPr>
        <p:spPr>
          <a:xfrm>
            <a:off x="7589520" y="4681728"/>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LSMC optimal stopping → reservation curve</a:t>
            </a:r>
            <a:endParaRPr lang="en-US" sz="1150" dirty="0"/>
          </a:p>
        </p:txBody>
      </p:sp>
      <p:sp>
        <p:nvSpPr>
          <p:cNvPr id="21" name="Text 19"/>
          <p:cNvSpPr txBox="1"/>
          <p:nvPr/>
        </p:nvSpPr>
        <p:spPr>
          <a:xfrm>
            <a:off x="868680" y="5020056"/>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routing/</a:t>
            </a:r>
            <a:endParaRPr lang="en-US" sz="1100" dirty="0"/>
          </a:p>
        </p:txBody>
      </p:sp>
      <p:sp>
        <p:nvSpPr>
          <p:cNvPr id="22" name="Text 20"/>
          <p:cNvSpPr txBox="1"/>
          <p:nvPr/>
        </p:nvSpPr>
        <p:spPr>
          <a:xfrm>
            <a:off x="2148840" y="5020056"/>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marine graph, A*, weather-weighted edges</a:t>
            </a:r>
            <a:endParaRPr lang="en-US" sz="1150" dirty="0"/>
          </a:p>
        </p:txBody>
      </p:sp>
      <p:sp>
        <p:nvSpPr>
          <p:cNvPr id="23" name="Text 21"/>
          <p:cNvSpPr txBox="1"/>
          <p:nvPr/>
        </p:nvSpPr>
        <p:spPr>
          <a:xfrm>
            <a:off x="6309360" y="5020056"/>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assign/</a:t>
            </a:r>
            <a:endParaRPr lang="en-US" sz="1100" dirty="0"/>
          </a:p>
        </p:txBody>
      </p:sp>
      <p:sp>
        <p:nvSpPr>
          <p:cNvPr id="24" name="Text 22"/>
          <p:cNvSpPr txBox="1"/>
          <p:nvPr/>
        </p:nvSpPr>
        <p:spPr>
          <a:xfrm>
            <a:off x="7589520" y="5020056"/>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MILP over cargo × class × port × window</a:t>
            </a:r>
            <a:endParaRPr lang="en-US" sz="1150" dirty="0"/>
          </a:p>
        </p:txBody>
      </p:sp>
      <p:sp>
        <p:nvSpPr>
          <p:cNvPr id="25" name="Text 23"/>
          <p:cNvSpPr txBox="1"/>
          <p:nvPr/>
        </p:nvSpPr>
        <p:spPr>
          <a:xfrm>
            <a:off x="868680" y="5358384"/>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risk/ hedge/</a:t>
            </a:r>
            <a:endParaRPr lang="en-US" sz="1100" dirty="0"/>
          </a:p>
        </p:txBody>
      </p:sp>
      <p:sp>
        <p:nvSpPr>
          <p:cNvPr id="26" name="Text 24"/>
          <p:cNvSpPr txBox="1"/>
          <p:nvPr/>
        </p:nvSpPr>
        <p:spPr>
          <a:xfrm>
            <a:off x="2148840" y="5358384"/>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CVaR, scenarios, hedge ratio, basis risk</a:t>
            </a:r>
            <a:endParaRPr lang="en-US" sz="1150" dirty="0"/>
          </a:p>
        </p:txBody>
      </p:sp>
      <p:sp>
        <p:nvSpPr>
          <p:cNvPr id="27" name="Text 25"/>
          <p:cNvSpPr txBox="1"/>
          <p:nvPr/>
        </p:nvSpPr>
        <p:spPr>
          <a:xfrm>
            <a:off x="6309360" y="5358384"/>
            <a:ext cx="123444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backtest/</a:t>
            </a:r>
            <a:endParaRPr lang="en-US" sz="1100" dirty="0"/>
          </a:p>
        </p:txBody>
      </p:sp>
      <p:sp>
        <p:nvSpPr>
          <p:cNvPr id="28" name="Text 26"/>
          <p:cNvSpPr txBox="1"/>
          <p:nvPr/>
        </p:nvSpPr>
        <p:spPr>
          <a:xfrm>
            <a:off x="7589520" y="5358384"/>
            <a:ext cx="40233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policy replay vs naive vs oracle</a:t>
            </a:r>
            <a:endParaRPr lang="en-US" sz="1150" dirty="0"/>
          </a:p>
        </p:txBody>
      </p:sp>
      <p:sp>
        <p:nvSpPr>
          <p:cNvPr id="29" name="Text 27"/>
          <p:cNvSpPr txBox="1"/>
          <p:nvPr/>
        </p:nvSpPr>
        <p:spPr>
          <a:xfrm>
            <a:off x="548640" y="5870448"/>
            <a:ext cx="11064240" cy="411480"/>
          </a:xfrm>
          <a:prstGeom prst="rect">
            <a:avLst/>
          </a:prstGeom>
          <a:noFill/>
          <a:ln/>
        </p:spPr>
        <p:txBody>
          <a:bodyPr wrap="square" lIns="0" tIns="0" rIns="0" bIns="0" rtlCol="0" anchor="ctr"/>
          <a:lstStyle/>
          <a:p>
            <a:pPr indent="0" marL="0">
              <a:buNone/>
            </a:pPr>
            <a:r>
              <a:rPr lang="en-US" sz="1300" dirty="0">
                <a:solidFill>
                  <a:srgbClr val="F2F5F7"/>
                </a:solidFill>
                <a:latin typeface="Arial" pitchFamily="34" charset="0"/>
                <a:ea typeface="Arial" pitchFamily="34" charset="-122"/>
                <a:cs typeface="Arial" pitchFamily="34" charset="-120"/>
              </a:rPr>
              <a:t>Every numeral in the product comes from a versioned solver and carries provenance to its source, licence and timestamp. A hallucinated figure is structurally impossible, not merely unlikely.</a:t>
            </a:r>
            <a:endParaRPr lang="en-US" sz="1300" dirty="0"/>
          </a:p>
        </p:txBody>
      </p:sp>
      <p:sp>
        <p:nvSpPr>
          <p:cNvPr id="31" name="Text 28"/>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08 / THE AGENT LAYER</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Agents at the edges, solvers in the middle</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If you cannot explain what an agent does that a function call could not, delete the agent.</a:t>
            </a:r>
            <a:endParaRPr lang="en-US" sz="1450" dirty="0"/>
          </a:p>
        </p:txBody>
      </p:sp>
      <p:sp>
        <p:nvSpPr>
          <p:cNvPr id="5" name="Shape 3"/>
          <p:cNvSpPr/>
          <p:nvPr/>
        </p:nvSpPr>
        <p:spPr>
          <a:xfrm>
            <a:off x="548640" y="2148840"/>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749808" y="2240280"/>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Market Analyst</a:t>
            </a:r>
            <a:endParaRPr lang="en-US" sz="1250" dirty="0"/>
          </a:p>
        </p:txBody>
      </p:sp>
      <p:sp>
        <p:nvSpPr>
          <p:cNvPr id="7" name="Text 5"/>
          <p:cNvSpPr txBox="1"/>
          <p:nvPr/>
        </p:nvSpPr>
        <p:spPr>
          <a:xfrm>
            <a:off x="749808" y="2532888"/>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rate state, curve, calibration</a:t>
            </a:r>
            <a:endParaRPr lang="en-US" sz="1050" dirty="0"/>
          </a:p>
        </p:txBody>
      </p:sp>
      <p:sp>
        <p:nvSpPr>
          <p:cNvPr id="8" name="Shape 6"/>
          <p:cNvSpPr/>
          <p:nvPr/>
        </p:nvSpPr>
        <p:spPr>
          <a:xfrm>
            <a:off x="4160520" y="2148840"/>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9" name="Text 7"/>
          <p:cNvSpPr txBox="1"/>
          <p:nvPr/>
        </p:nvSpPr>
        <p:spPr>
          <a:xfrm>
            <a:off x="4361688" y="2240280"/>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Fleet Supply</a:t>
            </a:r>
            <a:endParaRPr lang="en-US" sz="1250" dirty="0"/>
          </a:p>
        </p:txBody>
      </p:sp>
      <p:sp>
        <p:nvSpPr>
          <p:cNvPr id="10" name="Text 8"/>
          <p:cNvSpPr txBox="1"/>
          <p:nvPr/>
        </p:nvSpPr>
        <p:spPr>
          <a:xfrm>
            <a:off x="4361688" y="2532888"/>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tonnage tightness in ballast radius</a:t>
            </a:r>
            <a:endParaRPr lang="en-US" sz="1050" dirty="0"/>
          </a:p>
        </p:txBody>
      </p:sp>
      <p:sp>
        <p:nvSpPr>
          <p:cNvPr id="11" name="Shape 9"/>
          <p:cNvSpPr/>
          <p:nvPr/>
        </p:nvSpPr>
        <p:spPr>
          <a:xfrm>
            <a:off x="548640" y="2990088"/>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749808" y="3081528"/>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Demand</a:t>
            </a:r>
            <a:endParaRPr lang="en-US" sz="1250" dirty="0"/>
          </a:p>
        </p:txBody>
      </p:sp>
      <p:sp>
        <p:nvSpPr>
          <p:cNvPr id="13" name="Text 11"/>
          <p:cNvSpPr txBox="1"/>
          <p:nvPr/>
        </p:nvSpPr>
        <p:spPr>
          <a:xfrm>
            <a:off x="749808" y="3374136"/>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coal stocks, plant burn, volume band</a:t>
            </a:r>
            <a:endParaRPr lang="en-US" sz="1050" dirty="0"/>
          </a:p>
        </p:txBody>
      </p:sp>
      <p:sp>
        <p:nvSpPr>
          <p:cNvPr id="14" name="Shape 12"/>
          <p:cNvSpPr/>
          <p:nvPr/>
        </p:nvSpPr>
        <p:spPr>
          <a:xfrm>
            <a:off x="4160520" y="2990088"/>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4361688" y="3081528"/>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Port Feasibility</a:t>
            </a:r>
            <a:endParaRPr lang="en-US" sz="1250" dirty="0"/>
          </a:p>
        </p:txBody>
      </p:sp>
      <p:sp>
        <p:nvSpPr>
          <p:cNvPr id="16" name="Text 14"/>
          <p:cNvSpPr txBox="1"/>
          <p:nvPr/>
        </p:nvSpPr>
        <p:spPr>
          <a:xfrm>
            <a:off x="4361688" y="3374136"/>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hard physics, intake caps, reasons</a:t>
            </a:r>
            <a:endParaRPr lang="en-US" sz="1050" dirty="0"/>
          </a:p>
        </p:txBody>
      </p:sp>
      <p:sp>
        <p:nvSpPr>
          <p:cNvPr id="17" name="Shape 15"/>
          <p:cNvSpPr/>
          <p:nvPr/>
        </p:nvSpPr>
        <p:spPr>
          <a:xfrm>
            <a:off x="548640" y="3831336"/>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749808" y="3922776"/>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Voyage Economist</a:t>
            </a:r>
            <a:endParaRPr lang="en-US" sz="1250" dirty="0"/>
          </a:p>
        </p:txBody>
      </p:sp>
      <p:sp>
        <p:nvSpPr>
          <p:cNvPr id="19" name="Text 17"/>
          <p:cNvSpPr txBox="1"/>
          <p:nvPr/>
        </p:nvSpPr>
        <p:spPr>
          <a:xfrm>
            <a:off x="749808" y="4215384"/>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TCE and full cost breakdown</a:t>
            </a:r>
            <a:endParaRPr lang="en-US" sz="1050" dirty="0"/>
          </a:p>
        </p:txBody>
      </p:sp>
      <p:sp>
        <p:nvSpPr>
          <p:cNvPr id="20" name="Shape 18"/>
          <p:cNvSpPr/>
          <p:nvPr/>
        </p:nvSpPr>
        <p:spPr>
          <a:xfrm>
            <a:off x="4160520" y="3831336"/>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4361688" y="3922776"/>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Risk &amp; Disruption</a:t>
            </a:r>
            <a:endParaRPr lang="en-US" sz="1250" dirty="0"/>
          </a:p>
        </p:txBody>
      </p:sp>
      <p:sp>
        <p:nvSpPr>
          <p:cNvPr id="22" name="Text 20"/>
          <p:cNvSpPr txBox="1"/>
          <p:nvPr/>
        </p:nvSpPr>
        <p:spPr>
          <a:xfrm>
            <a:off x="4361688" y="4215384"/>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events → jump intensity, waiting days</a:t>
            </a:r>
            <a:endParaRPr lang="en-US" sz="1050" dirty="0"/>
          </a:p>
        </p:txBody>
      </p:sp>
      <p:sp>
        <p:nvSpPr>
          <p:cNvPr id="23" name="Shape 21"/>
          <p:cNvSpPr/>
          <p:nvPr/>
        </p:nvSpPr>
        <p:spPr>
          <a:xfrm>
            <a:off x="548640" y="4672584"/>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4" name="Text 22"/>
          <p:cNvSpPr txBox="1"/>
          <p:nvPr/>
        </p:nvSpPr>
        <p:spPr>
          <a:xfrm>
            <a:off x="749808" y="4764024"/>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Instrument Strategist</a:t>
            </a:r>
            <a:endParaRPr lang="en-US" sz="1250" dirty="0"/>
          </a:p>
        </p:txBody>
      </p:sp>
      <p:sp>
        <p:nvSpPr>
          <p:cNvPr id="25" name="Text 23"/>
          <p:cNvSpPr txBox="1"/>
          <p:nvPr/>
        </p:nvSpPr>
        <p:spPr>
          <a:xfrm>
            <a:off x="749808" y="5056632"/>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spot / TCT / COA / FFA mix</a:t>
            </a:r>
            <a:endParaRPr lang="en-US" sz="1050" dirty="0"/>
          </a:p>
        </p:txBody>
      </p:sp>
      <p:sp>
        <p:nvSpPr>
          <p:cNvPr id="26" name="Shape 24"/>
          <p:cNvSpPr/>
          <p:nvPr/>
        </p:nvSpPr>
        <p:spPr>
          <a:xfrm>
            <a:off x="4160520" y="4672584"/>
            <a:ext cx="3383280" cy="713232"/>
          </a:xfrm>
          <a:prstGeom prst="roundRect">
            <a:avLst>
              <a:gd name="adj" fmla="val 7692"/>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4361688" y="4764024"/>
            <a:ext cx="3017520" cy="274320"/>
          </a:xfrm>
          <a:prstGeom prst="rect">
            <a:avLst/>
          </a:prstGeom>
          <a:noFill/>
          <a:ln/>
        </p:spPr>
        <p:txBody>
          <a:bodyPr wrap="square" lIns="0" tIns="0" rIns="0" bIns="0" rtlCol="0" anchor="ctr"/>
          <a:lstStyle/>
          <a:p>
            <a:pPr indent="0" marL="0">
              <a:buNone/>
            </a:pPr>
            <a:r>
              <a:rPr lang="en-US" sz="1250" b="1" dirty="0">
                <a:solidFill>
                  <a:srgbClr val="F2F5F7"/>
                </a:solidFill>
                <a:latin typeface="Arial" pitchFamily="34" charset="0"/>
                <a:ea typeface="Arial" pitchFamily="34" charset="-122"/>
                <a:cs typeface="Arial" pitchFamily="34" charset="-120"/>
              </a:rPr>
              <a:t>Hedge Desk</a:t>
            </a:r>
            <a:endParaRPr lang="en-US" sz="1250" dirty="0"/>
          </a:p>
        </p:txBody>
      </p:sp>
      <p:sp>
        <p:nvSpPr>
          <p:cNvPr id="28" name="Text 26"/>
          <p:cNvSpPr txBox="1"/>
          <p:nvPr/>
        </p:nvSpPr>
        <p:spPr>
          <a:xfrm>
            <a:off x="4361688" y="5056632"/>
            <a:ext cx="301752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ratio, lots, effectiveness, basis risk</a:t>
            </a:r>
            <a:endParaRPr lang="en-US" sz="1050" dirty="0"/>
          </a:p>
        </p:txBody>
      </p:sp>
      <p:sp>
        <p:nvSpPr>
          <p:cNvPr id="29" name="Shape 27"/>
          <p:cNvSpPr/>
          <p:nvPr/>
        </p:nvSpPr>
        <p:spPr>
          <a:xfrm>
            <a:off x="7772400" y="2148840"/>
            <a:ext cx="3840480" cy="3794760"/>
          </a:xfrm>
          <a:prstGeom prst="roundRect">
            <a:avLst>
              <a:gd name="adj" fmla="val 1446"/>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30" name="Text 28"/>
          <p:cNvSpPr txBox="1"/>
          <p:nvPr/>
        </p:nvSpPr>
        <p:spPr>
          <a:xfrm>
            <a:off x="8028432" y="2331720"/>
            <a:ext cx="2743200" cy="365760"/>
          </a:xfrm>
          <a:prstGeom prst="rect">
            <a:avLst/>
          </a:prstGeom>
          <a:noFill/>
          <a:ln/>
        </p:spPr>
        <p:txBody>
          <a:bodyPr wrap="square" lIns="0" tIns="0" rIns="0" bIns="0" rtlCol="0" anchor="ctr"/>
          <a:lstStyle/>
          <a:p>
            <a:pPr indent="0" marL="0">
              <a:buNone/>
            </a:pPr>
            <a:r>
              <a:rPr lang="en-US" sz="2000" b="1" dirty="0">
                <a:solidFill>
                  <a:srgbClr val="E5484D"/>
                </a:solidFill>
                <a:latin typeface="Arial" pitchFamily="34" charset="0"/>
                <a:ea typeface="Arial" pitchFamily="34" charset="-122"/>
                <a:cs typeface="Arial" pitchFamily="34" charset="-120"/>
              </a:rPr>
              <a:t>THE CRITIC</a:t>
            </a:r>
            <a:endParaRPr lang="en-US" sz="2000" dirty="0"/>
          </a:p>
        </p:txBody>
      </p:sp>
      <p:sp>
        <p:nvSpPr>
          <p:cNvPr id="31" name="Text 29"/>
          <p:cNvSpPr txBox="1"/>
          <p:nvPr/>
        </p:nvSpPr>
        <p:spPr>
          <a:xfrm>
            <a:off x="8028432" y="2743200"/>
            <a:ext cx="3337560" cy="502920"/>
          </a:xfrm>
          <a:prstGeom prst="rect">
            <a:avLst/>
          </a:prstGeom>
          <a:noFill/>
          <a:ln/>
        </p:spPr>
        <p:txBody>
          <a:bodyPr wrap="square" lIns="0" tIns="0" rIns="0" bIns="0" rtlCol="0" anchor="ctr"/>
          <a:lstStyle/>
          <a:p>
            <a:pPr indent="0" marL="0">
              <a:buNone/>
            </a:pPr>
            <a:r>
              <a:rPr lang="en-US" sz="1200" dirty="0">
                <a:solidFill>
                  <a:srgbClr val="F2F5F7"/>
                </a:solidFill>
                <a:latin typeface="Arial" pitchFamily="34" charset="0"/>
                <a:ea typeface="Arial" pitchFamily="34" charset="-122"/>
                <a:cs typeface="Arial" pitchFamily="34" charset="-120"/>
              </a:rPr>
              <a:t>An agent whose only job is to attack the recommendation before it ships.</a:t>
            </a:r>
            <a:endParaRPr lang="en-US" sz="1200" dirty="0"/>
          </a:p>
        </p:txBody>
      </p:sp>
      <p:sp>
        <p:nvSpPr>
          <p:cNvPr id="32" name="Text 30"/>
          <p:cNvSpPr txBox="1"/>
          <p:nvPr/>
        </p:nvSpPr>
        <p:spPr>
          <a:xfrm>
            <a:off x="8028432" y="3364992"/>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33" name="Text 31"/>
          <p:cNvSpPr txBox="1"/>
          <p:nvPr/>
        </p:nvSpPr>
        <p:spPr>
          <a:xfrm>
            <a:off x="8229600" y="3337560"/>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Out-of-distribution state</a:t>
            </a:r>
            <a:endParaRPr lang="en-US" sz="1150" dirty="0"/>
          </a:p>
        </p:txBody>
      </p:sp>
      <p:sp>
        <p:nvSpPr>
          <p:cNvPr id="34" name="Text 32"/>
          <p:cNvSpPr txBox="1"/>
          <p:nvPr/>
        </p:nvSpPr>
        <p:spPr>
          <a:xfrm>
            <a:off x="8028432" y="3657600"/>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35" name="Text 33"/>
          <p:cNvSpPr txBox="1"/>
          <p:nvPr/>
        </p:nvSpPr>
        <p:spPr>
          <a:xfrm>
            <a:off x="8229600" y="3630168"/>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Regime change tests</a:t>
            </a:r>
            <a:endParaRPr lang="en-US" sz="1150" dirty="0"/>
          </a:p>
        </p:txBody>
      </p:sp>
      <p:sp>
        <p:nvSpPr>
          <p:cNvPr id="36" name="Text 34"/>
          <p:cNvSpPr txBox="1"/>
          <p:nvPr/>
        </p:nvSpPr>
        <p:spPr>
          <a:xfrm>
            <a:off x="8028432" y="3950208"/>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37" name="Text 35"/>
          <p:cNvSpPr txBox="1"/>
          <p:nvPr/>
        </p:nvSpPr>
        <p:spPr>
          <a:xfrm>
            <a:off x="8229600" y="3922776"/>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Forward-curve disagreement</a:t>
            </a:r>
            <a:endParaRPr lang="en-US" sz="1150" dirty="0"/>
          </a:p>
        </p:txBody>
      </p:sp>
      <p:sp>
        <p:nvSpPr>
          <p:cNvPr id="38" name="Text 36"/>
          <p:cNvSpPr txBox="1"/>
          <p:nvPr/>
        </p:nvSpPr>
        <p:spPr>
          <a:xfrm>
            <a:off x="8028432" y="4242816"/>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39" name="Text 37"/>
          <p:cNvSpPr txBox="1"/>
          <p:nvPr/>
        </p:nvSpPr>
        <p:spPr>
          <a:xfrm>
            <a:off x="8229600" y="4215384"/>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Single-source ablation</a:t>
            </a:r>
            <a:endParaRPr lang="en-US" sz="1150" dirty="0"/>
          </a:p>
        </p:txBody>
      </p:sp>
      <p:sp>
        <p:nvSpPr>
          <p:cNvPr id="40" name="Text 38"/>
          <p:cNvSpPr txBox="1"/>
          <p:nvPr/>
        </p:nvSpPr>
        <p:spPr>
          <a:xfrm>
            <a:off x="8028432" y="4535424"/>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41" name="Text 39"/>
          <p:cNvSpPr txBox="1"/>
          <p:nvPr/>
        </p:nvSpPr>
        <p:spPr>
          <a:xfrm>
            <a:off x="8229600" y="4507992"/>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Calibration drift</a:t>
            </a:r>
            <a:endParaRPr lang="en-US" sz="1150" dirty="0"/>
          </a:p>
        </p:txBody>
      </p:sp>
      <p:sp>
        <p:nvSpPr>
          <p:cNvPr id="42" name="Text 40"/>
          <p:cNvSpPr txBox="1"/>
          <p:nvPr/>
        </p:nvSpPr>
        <p:spPr>
          <a:xfrm>
            <a:off x="8028432" y="4828032"/>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43" name="Text 41"/>
          <p:cNvSpPr txBox="1"/>
          <p:nvPr/>
        </p:nvSpPr>
        <p:spPr>
          <a:xfrm>
            <a:off x="8229600" y="4800600"/>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Independent feasibility recheck</a:t>
            </a:r>
            <a:endParaRPr lang="en-US" sz="1150" dirty="0"/>
          </a:p>
        </p:txBody>
      </p:sp>
      <p:sp>
        <p:nvSpPr>
          <p:cNvPr id="44" name="Text 42"/>
          <p:cNvSpPr txBox="1"/>
          <p:nvPr/>
        </p:nvSpPr>
        <p:spPr>
          <a:xfrm>
            <a:off x="8028432" y="5120640"/>
            <a:ext cx="182880" cy="256032"/>
          </a:xfrm>
          <a:prstGeom prst="rect">
            <a:avLst/>
          </a:prstGeom>
          <a:noFill/>
          <a:ln/>
        </p:spPr>
        <p:txBody>
          <a:bodyPr wrap="square" lIns="0" tIns="0" rIns="0" bIns="0" rtlCol="0" anchor="ctr"/>
          <a:lstStyle/>
          <a:p>
            <a:pPr indent="0" marL="0">
              <a:buNone/>
            </a:pPr>
            <a:r>
              <a:rPr lang="en-US" sz="900" dirty="0">
                <a:solidFill>
                  <a:srgbClr val="E5484D"/>
                </a:solidFill>
                <a:latin typeface="Arial" pitchFamily="34" charset="0"/>
                <a:ea typeface="Arial" pitchFamily="34" charset="-122"/>
                <a:cs typeface="Arial" pitchFamily="34" charset="-120"/>
              </a:rPr>
              <a:t>▪</a:t>
            </a:r>
            <a:endParaRPr lang="en-US" sz="900" dirty="0"/>
          </a:p>
        </p:txBody>
      </p:sp>
      <p:sp>
        <p:nvSpPr>
          <p:cNvPr id="45" name="Text 43"/>
          <p:cNvSpPr txBox="1"/>
          <p:nvPr/>
        </p:nvSpPr>
        <p:spPr>
          <a:xfrm>
            <a:off x="8229600" y="5093208"/>
            <a:ext cx="3108960" cy="2743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Magnitude plausibility</a:t>
            </a:r>
            <a:endParaRPr lang="en-US" sz="1150" dirty="0"/>
          </a:p>
        </p:txBody>
      </p:sp>
      <p:sp>
        <p:nvSpPr>
          <p:cNvPr id="46" name="Text 44"/>
          <p:cNvSpPr txBox="1"/>
          <p:nvPr/>
        </p:nvSpPr>
        <p:spPr>
          <a:xfrm>
            <a:off x="8028432" y="5440680"/>
            <a:ext cx="3337560" cy="411480"/>
          </a:xfrm>
          <a:prstGeom prst="rect">
            <a:avLst/>
          </a:prstGeom>
          <a:noFill/>
          <a:ln/>
        </p:spPr>
        <p:txBody>
          <a:bodyPr wrap="square" lIns="0" tIns="0" rIns="0" bIns="0" rtlCol="0" anchor="ctr"/>
          <a:lstStyle/>
          <a:p>
            <a:pPr indent="0" marL="0">
              <a:buNone/>
            </a:pPr>
            <a:r>
              <a:rPr lang="en-US" sz="1150" b="1" dirty="0">
                <a:solidFill>
                  <a:srgbClr val="4FD1C5"/>
                </a:solidFill>
                <a:latin typeface="Arial" pitchFamily="34" charset="0"/>
                <a:ea typeface="Arial" pitchFamily="34" charset="-122"/>
                <a:cs typeface="Arial" pitchFamily="34" charset="-120"/>
              </a:rPr>
              <a:t>When it can't get comfortable, the product says so and escalates to a human.</a:t>
            </a:r>
            <a:endParaRPr lang="en-US" sz="1150" dirty="0"/>
          </a:p>
        </p:txBody>
      </p:sp>
      <p:sp>
        <p:nvSpPr>
          <p:cNvPr id="48" name="Text 45"/>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09 / THE TIMING ENGINE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Fix-or-wait is an optimal stopping problem</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Structurally the same as exercising an American option — and solved the same way, with Least-Squares Monte Carlo.</a:t>
            </a:r>
            <a:endParaRPr lang="en-US" sz="1450" dirty="0"/>
          </a:p>
        </p:txBody>
      </p:sp>
      <p:sp>
        <p:nvSpPr>
          <p:cNvPr id="5" name="Shape 3"/>
          <p:cNvSpPr/>
          <p:nvPr/>
        </p:nvSpPr>
        <p:spPr>
          <a:xfrm>
            <a:off x="548640" y="2148840"/>
            <a:ext cx="4114800" cy="3657600"/>
          </a:xfrm>
          <a:prstGeom prst="roundRect">
            <a:avLst>
              <a:gd name="adj" fmla="val 1500"/>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22960" y="2395728"/>
            <a:ext cx="3566160" cy="320040"/>
          </a:xfrm>
          <a:prstGeom prst="rect">
            <a:avLst/>
          </a:prstGeom>
          <a:noFill/>
          <a:ln/>
        </p:spPr>
        <p:txBody>
          <a:bodyPr wrap="square" lIns="0" tIns="0" rIns="0" bIns="0" rtlCol="0" anchor="ctr"/>
          <a:lstStyle/>
          <a:p>
            <a:pPr indent="0" marL="0">
              <a:buNone/>
            </a:pPr>
            <a:r>
              <a:rPr lang="en-US" sz="1300" dirty="0">
                <a:solidFill>
                  <a:srgbClr val="F2F5F7"/>
                </a:solidFill>
                <a:latin typeface="Courier New" pitchFamily="34" charset="0"/>
                <a:ea typeface="Courier New" pitchFamily="34" charset="-122"/>
                <a:cs typeface="Courier New" pitchFamily="34" charset="-120"/>
              </a:rPr>
              <a:t>V_t = min{ R_t , E[ V_t+1 | F_t ] }</a:t>
            </a:r>
            <a:endParaRPr lang="en-US" sz="1300" dirty="0"/>
          </a:p>
        </p:txBody>
      </p:sp>
      <p:sp>
        <p:nvSpPr>
          <p:cNvPr id="7" name="Text 5"/>
          <p:cNvSpPr txBox="1"/>
          <p:nvPr/>
        </p:nvSpPr>
        <p:spPr>
          <a:xfrm>
            <a:off x="822960" y="2761488"/>
            <a:ext cx="3566160" cy="320040"/>
          </a:xfrm>
          <a:prstGeom prst="rect">
            <a:avLst/>
          </a:prstGeom>
          <a:noFill/>
          <a:ln/>
        </p:spPr>
        <p:txBody>
          <a:bodyPr wrap="square" lIns="0" tIns="0" rIns="0" bIns="0" rtlCol="0" anchor="ctr"/>
          <a:lstStyle/>
          <a:p>
            <a:pPr indent="0" marL="0">
              <a:buNone/>
            </a:pPr>
            <a:r>
              <a:rPr lang="en-US" sz="1300" dirty="0">
                <a:solidFill>
                  <a:srgbClr val="4FD1C5"/>
                </a:solidFill>
                <a:latin typeface="Courier New" pitchFamily="34" charset="0"/>
                <a:ea typeface="Courier New" pitchFamily="34" charset="-122"/>
                <a:cs typeface="Courier New" pitchFamily="34" charset="-120"/>
              </a:rPr>
              <a:t>R*_t = E[ V_t+1 | F_t ]</a:t>
            </a:r>
            <a:endParaRPr lang="en-US" sz="1300" dirty="0"/>
          </a:p>
        </p:txBody>
      </p:sp>
      <p:sp>
        <p:nvSpPr>
          <p:cNvPr id="8" name="Text 6"/>
          <p:cNvSpPr txBox="1"/>
          <p:nvPr/>
        </p:nvSpPr>
        <p:spPr>
          <a:xfrm>
            <a:off x="822960" y="3127248"/>
            <a:ext cx="3566160" cy="320040"/>
          </a:xfrm>
          <a:prstGeom prst="rect">
            <a:avLst/>
          </a:prstGeom>
          <a:noFill/>
          <a:ln/>
        </p:spPr>
        <p:txBody>
          <a:bodyPr wrap="square" lIns="0" tIns="0" rIns="0" bIns="0" rtlCol="0" anchor="ctr"/>
          <a:lstStyle/>
          <a:p>
            <a:pPr indent="0" marL="0">
              <a:buNone/>
            </a:pPr>
            <a:r>
              <a:rPr lang="en-US" sz="1300" b="1" dirty="0">
                <a:solidFill>
                  <a:srgbClr val="FF8A3D"/>
                </a:solidFill>
                <a:latin typeface="Courier New" pitchFamily="34" charset="0"/>
                <a:ea typeface="Courier New" pitchFamily="34" charset="-122"/>
                <a:cs typeface="Courier New" pitchFamily="34" charset="-120"/>
              </a:rPr>
              <a:t>FIX  iff  R_t ≤ R*_t</a:t>
            </a:r>
            <a:endParaRPr lang="en-US" sz="1300" dirty="0"/>
          </a:p>
        </p:txBody>
      </p:sp>
      <p:sp>
        <p:nvSpPr>
          <p:cNvPr id="9" name="Text 7"/>
          <p:cNvSpPr txBox="1"/>
          <p:nvPr/>
        </p:nvSpPr>
        <p:spPr>
          <a:xfrm>
            <a:off x="822960" y="3611880"/>
            <a:ext cx="3566160" cy="54864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The reservation rate is the continuation value. Two properties we test for, because they are how a real charterer behaves:</a:t>
            </a:r>
            <a:endParaRPr lang="en-US" sz="1150" dirty="0"/>
          </a:p>
        </p:txBody>
      </p:sp>
      <p:sp>
        <p:nvSpPr>
          <p:cNvPr id="10" name="Text 8"/>
          <p:cNvSpPr txBox="1"/>
          <p:nvPr/>
        </p:nvSpPr>
        <p:spPr>
          <a:xfrm>
            <a:off x="822960" y="4224528"/>
            <a:ext cx="3566160" cy="50292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It rises as the laycan closes.</a:t>
            </a:r>
            <a:endParaRPr lang="en-US" sz="1150" dirty="0"/>
          </a:p>
          <a:p>
            <a:pPr indent="0" marL="0">
              <a:buNone/>
            </a:pPr>
            <a:r>
              <a:rPr lang="en-US" sz="1150" dirty="0">
                <a:solidFill>
                  <a:srgbClr val="F2F5F7"/>
                </a:solidFill>
                <a:latin typeface="Arial" pitchFamily="34" charset="0"/>
                <a:ea typeface="Arial" pitchFamily="34" charset="-122"/>
                <a:cs typeface="Arial" pitchFamily="34" charset="-120"/>
              </a:rPr>
              <a:t>You get less choosy as you run out of runway.</a:t>
            </a:r>
            <a:endParaRPr lang="en-US" sz="1150" dirty="0"/>
          </a:p>
        </p:txBody>
      </p:sp>
      <p:sp>
        <p:nvSpPr>
          <p:cNvPr id="11" name="Text 9"/>
          <p:cNvSpPr txBox="1"/>
          <p:nvPr/>
        </p:nvSpPr>
        <p:spPr>
          <a:xfrm>
            <a:off x="822960" y="4800600"/>
            <a:ext cx="3566160" cy="50292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It widens with volatility.</a:t>
            </a:r>
            <a:endParaRPr lang="en-US" sz="1150" dirty="0"/>
          </a:p>
          <a:p>
            <a:pPr indent="0" marL="0">
              <a:buNone/>
            </a:pPr>
            <a:r>
              <a:rPr lang="en-US" sz="1150" dirty="0">
                <a:solidFill>
                  <a:srgbClr val="F2F5F7"/>
                </a:solidFill>
                <a:latin typeface="Arial" pitchFamily="34" charset="0"/>
                <a:ea typeface="Arial" pitchFamily="34" charset="-122"/>
                <a:cs typeface="Arial" pitchFamily="34" charset="-120"/>
              </a:rPr>
              <a:t>More uncertainty means more value in waiting.</a:t>
            </a:r>
            <a:endParaRPr lang="en-US" sz="1150" dirty="0"/>
          </a:p>
        </p:txBody>
      </p:sp>
      <p:graphicFrame>
        <p:nvGraphicFramePr>
          <p:cNvPr id="12" name="Chart 0" descr=""/>
          <p:cNvGraphicFramePr/>
          <p:nvPr/>
        </p:nvGraphicFramePr>
        <p:xfrm>
          <a:off x="4937760" y="2148840"/>
          <a:ext cx="6675120" cy="36576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7680960" y="4956048"/>
            <a:ext cx="3931920" cy="274320"/>
          </a:xfrm>
          <a:prstGeom prst="rect">
            <a:avLst/>
          </a:prstGeom>
          <a:noFill/>
          <a:ln/>
        </p:spPr>
        <p:txBody>
          <a:bodyPr wrap="square" lIns="0" tIns="0" rIns="0" bIns="0" rtlCol="0" anchor="ctr"/>
          <a:lstStyle/>
          <a:p>
            <a:pPr indent="0" marL="0">
              <a:buNone/>
            </a:pPr>
            <a:r>
              <a:rPr lang="en-US" sz="1050" b="1" dirty="0">
                <a:solidFill>
                  <a:srgbClr val="FF8A3D"/>
                </a:solidFill>
                <a:latin typeface="Courier New" pitchFamily="34" charset="0"/>
                <a:ea typeface="Courier New" pitchFamily="34" charset="-122"/>
                <a:cs typeface="Courier New" pitchFamily="34" charset="-120"/>
              </a:rPr>
              <a:t>↓ market crosses below the threshold — FIX</a:t>
            </a:r>
            <a:endParaRPr lang="en-US" sz="1050" dirty="0"/>
          </a:p>
        </p:txBody>
      </p:sp>
      <p:sp>
        <p:nvSpPr>
          <p:cNvPr id="15" name="Text 11"/>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10 / INSTRUMENT &amp; HEDGE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The layer nobody sells to physical importers</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Indian industrial buyers are structurally unhedged on freight while every counterparty they negotiate with hedges routinely.</a:t>
            </a:r>
            <a:endParaRPr lang="en-US" sz="1450" dirty="0"/>
          </a:p>
        </p:txBody>
      </p:sp>
      <p:graphicFrame>
        <p:nvGraphicFramePr>
          <p:cNvPr id="5" name="Chart 0" descr=""/>
          <p:cNvGraphicFramePr/>
          <p:nvPr/>
        </p:nvGraphicFramePr>
        <p:xfrm>
          <a:off x="548640" y="219456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66560" y="2194560"/>
            <a:ext cx="4846320" cy="1691640"/>
          </a:xfrm>
          <a:prstGeom prst="roundRect">
            <a:avLst>
              <a:gd name="adj" fmla="val 3243"/>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7" name="Text 4"/>
          <p:cNvSpPr txBox="1"/>
          <p:nvPr/>
        </p:nvSpPr>
        <p:spPr>
          <a:xfrm>
            <a:off x="6995160" y="2359152"/>
            <a:ext cx="4389120" cy="274320"/>
          </a:xfrm>
          <a:prstGeom prst="rect">
            <a:avLst/>
          </a:prstGeom>
          <a:noFill/>
          <a:ln/>
        </p:spPr>
        <p:txBody>
          <a:bodyPr wrap="square" lIns="0" tIns="0" rIns="0" bIns="0" rtlCol="0" anchor="ctr"/>
          <a:lstStyle/>
          <a:p>
            <a:pPr indent="0" marL="0">
              <a:buNone/>
            </a:pPr>
            <a:r>
              <a:rPr lang="en-US" sz="950" spc="100" kern="0" dirty="0">
                <a:solidFill>
                  <a:srgbClr val="FF8A3D"/>
                </a:solidFill>
                <a:latin typeface="Courier New" pitchFamily="34" charset="0"/>
                <a:ea typeface="Courier New" pitchFamily="34" charset="-122"/>
                <a:cs typeface="Courier New" pitchFamily="34" charset="-120"/>
              </a:rPr>
              <a:t>WHY COVER IS CAPPED, NOT MAXIMISED</a:t>
            </a:r>
            <a:endParaRPr lang="en-US" sz="950" dirty="0"/>
          </a:p>
        </p:txBody>
      </p:sp>
      <p:sp>
        <p:nvSpPr>
          <p:cNvPr id="8" name="Text 5"/>
          <p:cNvSpPr txBox="1"/>
          <p:nvPr/>
        </p:nvSpPr>
        <p:spPr>
          <a:xfrm>
            <a:off x="6995160" y="2697480"/>
            <a:ext cx="4389120" cy="1005840"/>
          </a:xfrm>
          <a:prstGeom prst="rect">
            <a:avLst/>
          </a:prstGeom>
          <a:noFill/>
          <a:ln/>
        </p:spPr>
        <p:txBody>
          <a:bodyPr wrap="square" lIns="0" tIns="0" rIns="0" bIns="0" rtlCol="0" anchor="ctr"/>
          <a:lstStyle/>
          <a:p>
            <a:pPr indent="0" marL="0">
              <a:buNone/>
            </a:pPr>
            <a:r>
              <a:rPr lang="en-US" sz="1200" dirty="0">
                <a:solidFill>
                  <a:srgbClr val="F2F5F7"/>
                </a:solidFill>
                <a:latin typeface="Arial" pitchFamily="34" charset="0"/>
                <a:ea typeface="Arial" pitchFamily="34" charset="-122"/>
                <a:cs typeface="Arial" pitchFamily="34" charset="-120"/>
              </a:rPr>
              <a:t>A term contract is only cheap if you can actually lift it. So COA coverage is capped by the lower confidence bound of the volume forecast — not the mean. Short-lifting costs more than the rate saving.</a:t>
            </a:r>
            <a:endParaRPr lang="en-US" sz="1200" dirty="0"/>
          </a:p>
        </p:txBody>
      </p:sp>
      <p:sp>
        <p:nvSpPr>
          <p:cNvPr id="9" name="Shape 6"/>
          <p:cNvSpPr/>
          <p:nvPr/>
        </p:nvSpPr>
        <p:spPr>
          <a:xfrm>
            <a:off x="6766560" y="4023360"/>
            <a:ext cx="4846320" cy="1645920"/>
          </a:xfrm>
          <a:prstGeom prst="roundRect">
            <a:avLst>
              <a:gd name="adj" fmla="val 333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0" name="Text 7"/>
          <p:cNvSpPr txBox="1"/>
          <p:nvPr/>
        </p:nvSpPr>
        <p:spPr>
          <a:xfrm>
            <a:off x="6995160" y="4187952"/>
            <a:ext cx="4389120" cy="274320"/>
          </a:xfrm>
          <a:prstGeom prst="rect">
            <a:avLst/>
          </a:prstGeom>
          <a:noFill/>
          <a:ln/>
        </p:spPr>
        <p:txBody>
          <a:bodyPr wrap="square" lIns="0" tIns="0" rIns="0" bIns="0" rtlCol="0" anchor="ctr"/>
          <a:lstStyle/>
          <a:p>
            <a:pPr indent="0" marL="0">
              <a:buNone/>
            </a:pPr>
            <a:r>
              <a:rPr lang="en-US" sz="950" spc="100" kern="0" dirty="0">
                <a:solidFill>
                  <a:srgbClr val="FF8A3D"/>
                </a:solidFill>
                <a:latin typeface="Courier New" pitchFamily="34" charset="0"/>
                <a:ea typeface="Courier New" pitchFamily="34" charset="-122"/>
                <a:cs typeface="Courier New" pitchFamily="34" charset="-120"/>
              </a:rPr>
              <a:t>THE HEDGE, STATED HONESTLY</a:t>
            </a:r>
            <a:endParaRPr lang="en-US" sz="950" dirty="0"/>
          </a:p>
        </p:txBody>
      </p:sp>
      <p:sp>
        <p:nvSpPr>
          <p:cNvPr id="11" name="Text 8"/>
          <p:cNvSpPr txBox="1"/>
          <p:nvPr/>
        </p:nvSpPr>
        <p:spPr>
          <a:xfrm>
            <a:off x="6995160" y="4526280"/>
            <a:ext cx="246888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h* = Cov(ΔS,ΔF)/Var(ΔF)</a:t>
            </a:r>
            <a:endParaRPr lang="en-US" sz="1100" dirty="0"/>
          </a:p>
        </p:txBody>
      </p:sp>
      <p:sp>
        <p:nvSpPr>
          <p:cNvPr id="12" name="Text 9"/>
          <p:cNvSpPr txBox="1"/>
          <p:nvPr/>
        </p:nvSpPr>
        <p:spPr>
          <a:xfrm>
            <a:off x="9464040" y="4526280"/>
            <a:ext cx="192024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minimum-variance ratio</a:t>
            </a:r>
            <a:endParaRPr lang="en-US" sz="1050" dirty="0"/>
          </a:p>
        </p:txBody>
      </p:sp>
      <p:sp>
        <p:nvSpPr>
          <p:cNvPr id="13" name="Text 10"/>
          <p:cNvSpPr txBox="1"/>
          <p:nvPr/>
        </p:nvSpPr>
        <p:spPr>
          <a:xfrm>
            <a:off x="6995160" y="4910328"/>
            <a:ext cx="246888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effectiveness = ρ²</a:t>
            </a:r>
            <a:endParaRPr lang="en-US" sz="1100" dirty="0"/>
          </a:p>
        </p:txBody>
      </p:sp>
      <p:sp>
        <p:nvSpPr>
          <p:cNvPr id="14" name="Text 11"/>
          <p:cNvSpPr txBox="1"/>
          <p:nvPr/>
        </p:nvSpPr>
        <p:spPr>
          <a:xfrm>
            <a:off x="9464040" y="4910328"/>
            <a:ext cx="192024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variance actually removed</a:t>
            </a:r>
            <a:endParaRPr lang="en-US" sz="1050" dirty="0"/>
          </a:p>
        </p:txBody>
      </p:sp>
      <p:sp>
        <p:nvSpPr>
          <p:cNvPr id="15" name="Text 12"/>
          <p:cNvSpPr txBox="1"/>
          <p:nvPr/>
        </p:nvSpPr>
        <p:spPr>
          <a:xfrm>
            <a:off x="6995160" y="5294376"/>
            <a:ext cx="2468880" cy="274320"/>
          </a:xfrm>
          <a:prstGeom prst="rect">
            <a:avLst/>
          </a:prstGeom>
          <a:noFill/>
          <a:ln/>
        </p:spPr>
        <p:txBody>
          <a:bodyPr wrap="square" lIns="0" tIns="0" rIns="0" bIns="0" rtlCol="0" anchor="ctr"/>
          <a:lstStyle/>
          <a:p>
            <a:pPr indent="0" marL="0">
              <a:buNone/>
            </a:pPr>
            <a:r>
              <a:rPr lang="en-US" sz="1100" dirty="0">
                <a:solidFill>
                  <a:srgbClr val="4FD1C5"/>
                </a:solidFill>
                <a:latin typeface="Courier New" pitchFamily="34" charset="0"/>
                <a:ea typeface="Courier New" pitchFamily="34" charset="-122"/>
                <a:cs typeface="Courier New" pitchFamily="34" charset="-120"/>
              </a:rPr>
              <a:t>σ(S − h*F)</a:t>
            </a:r>
            <a:endParaRPr lang="en-US" sz="1100" dirty="0"/>
          </a:p>
        </p:txBody>
      </p:sp>
      <p:sp>
        <p:nvSpPr>
          <p:cNvPr id="16" name="Text 13"/>
          <p:cNvSpPr txBox="1"/>
          <p:nvPr/>
        </p:nvSpPr>
        <p:spPr>
          <a:xfrm>
            <a:off x="9464040" y="5294376"/>
            <a:ext cx="1920240" cy="274320"/>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residual basis risk, in $/mt</a:t>
            </a:r>
            <a:endParaRPr lang="en-US" sz="1050" dirty="0"/>
          </a:p>
        </p:txBody>
      </p:sp>
      <p:sp>
        <p:nvSpPr>
          <p:cNvPr id="17" name="Text 14"/>
          <p:cNvSpPr txBox="1"/>
          <p:nvPr/>
        </p:nvSpPr>
        <p:spPr>
          <a:xfrm>
            <a:off x="6766560" y="5797296"/>
            <a:ext cx="4846320" cy="274320"/>
          </a:xfrm>
          <a:prstGeom prst="rect">
            <a:avLst/>
          </a:prstGeom>
          <a:noFill/>
          <a:ln/>
        </p:spPr>
        <p:txBody>
          <a:bodyPr wrap="square" lIns="0" tIns="0" rIns="0" bIns="0" rtlCol="0" anchor="ctr"/>
          <a:lstStyle/>
          <a:p>
            <a:pPr indent="0" marL="0">
              <a:buNone/>
            </a:pPr>
            <a:r>
              <a:rPr lang="en-US" sz="1100" i="1" dirty="0">
                <a:solidFill>
                  <a:srgbClr val="8A9BA8"/>
                </a:solidFill>
                <a:latin typeface="Arial" pitchFamily="34" charset="0"/>
                <a:ea typeface="Arial" pitchFamily="34" charset="-122"/>
                <a:cs typeface="Arial" pitchFamily="34" charset="-120"/>
              </a:rPr>
              <a:t>A hedge sold as perfect is one that will eventually embarrass you.</a:t>
            </a:r>
            <a:endParaRPr lang="en-US" sz="1100" dirty="0"/>
          </a:p>
        </p:txBody>
      </p:sp>
      <p:sp>
        <p:nvSpPr>
          <p:cNvPr id="18" name="Text 15"/>
          <p:cNvSpPr txBox="1"/>
          <p:nvPr/>
        </p:nvSpPr>
        <p:spPr>
          <a:xfrm>
            <a:off x="1280160" y="3913632"/>
            <a:ext cx="3657600" cy="274320"/>
          </a:xfrm>
          <a:prstGeom prst="rect">
            <a:avLst/>
          </a:prstGeom>
          <a:noFill/>
          <a:ln/>
        </p:spPr>
        <p:txBody>
          <a:bodyPr wrap="square" lIns="0" tIns="0" rIns="0" bIns="0" rtlCol="0" anchor="ctr"/>
          <a:lstStyle/>
          <a:p>
            <a:pPr indent="0" marL="0">
              <a:buNone/>
            </a:pPr>
            <a:r>
              <a:rPr lang="en-US" sz="1000" b="1" dirty="0">
                <a:solidFill>
                  <a:srgbClr val="FF8A3D"/>
                </a:solidFill>
                <a:latin typeface="Courier New" pitchFamily="34" charset="0"/>
                <a:ea typeface="Courier New" pitchFamily="34" charset="-122"/>
                <a:cs typeface="Courier New" pitchFamily="34" charset="-120"/>
              </a:rPr>
              <a:t>↑ tail risk bottoms out near 60% cover, not 100%</a:t>
            </a:r>
            <a:endParaRPr lang="en-US" sz="1000" dirty="0"/>
          </a:p>
        </p:txBody>
      </p:sp>
      <p:sp>
        <p:nvSpPr>
          <p:cNvPr id="19" name="Text 16"/>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11 / THE EVIDENCE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We backtest decisions, not forecasts</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Everyone shows forecast error. We show money. Walk-forward, point-in-time features, a leakage test in CI, and net of all frictions.</a:t>
            </a:r>
            <a:endParaRPr lang="en-US" sz="1450" dirty="0"/>
          </a:p>
        </p:txBody>
      </p:sp>
      <p:graphicFrame>
        <p:nvGraphicFramePr>
          <p:cNvPr id="5" name="Chart 0" descr=""/>
          <p:cNvGraphicFramePr/>
          <p:nvPr/>
        </p:nvGraphicFramePr>
        <p:xfrm>
          <a:off x="548640" y="2286000"/>
          <a:ext cx="585216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583680" y="2286000"/>
            <a:ext cx="5029200" cy="1371600"/>
          </a:xfrm>
          <a:prstGeom prst="roundRect">
            <a:avLst>
              <a:gd name="adj" fmla="val 4000"/>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7" name="Text 4"/>
          <p:cNvSpPr txBox="1"/>
          <p:nvPr/>
        </p:nvSpPr>
        <p:spPr>
          <a:xfrm>
            <a:off x="6812280" y="2450592"/>
            <a:ext cx="2743200" cy="274320"/>
          </a:xfrm>
          <a:prstGeom prst="rect">
            <a:avLst/>
          </a:prstGeom>
          <a:noFill/>
          <a:ln/>
        </p:spPr>
        <p:txBody>
          <a:bodyPr wrap="square" lIns="0" tIns="0" rIns="0" bIns="0" rtlCol="0" anchor="ctr"/>
          <a:lstStyle/>
          <a:p>
            <a:pPr indent="0" marL="0">
              <a:buNone/>
            </a:pPr>
            <a:r>
              <a:rPr lang="en-US" sz="950" spc="120" kern="0" dirty="0">
                <a:solidFill>
                  <a:srgbClr val="FF8A3D"/>
                </a:solidFill>
                <a:latin typeface="Courier New" pitchFamily="34" charset="0"/>
                <a:ea typeface="Courier New" pitchFamily="34" charset="-122"/>
                <a:cs typeface="Courier New" pitchFamily="34" charset="-120"/>
              </a:rPr>
              <a:t>CAPTURE RATIO</a:t>
            </a:r>
            <a:endParaRPr lang="en-US" sz="950" dirty="0"/>
          </a:p>
        </p:txBody>
      </p:sp>
      <p:sp>
        <p:nvSpPr>
          <p:cNvPr id="8" name="Text 5"/>
          <p:cNvSpPr txBox="1"/>
          <p:nvPr/>
        </p:nvSpPr>
        <p:spPr>
          <a:xfrm>
            <a:off x="6812280" y="2724912"/>
            <a:ext cx="1828800" cy="685800"/>
          </a:xfrm>
          <a:prstGeom prst="rect">
            <a:avLst/>
          </a:prstGeom>
          <a:noFill/>
          <a:ln/>
        </p:spPr>
        <p:txBody>
          <a:bodyPr wrap="square" lIns="0" tIns="0" rIns="0" bIns="0" rtlCol="0" anchor="ctr"/>
          <a:lstStyle/>
          <a:p>
            <a:pPr indent="0" marL="0">
              <a:buNone/>
            </a:pPr>
            <a:r>
              <a:rPr lang="en-US" sz="4600" b="1" dirty="0">
                <a:solidFill>
                  <a:srgbClr val="F2F5F7"/>
                </a:solidFill>
                <a:latin typeface="Courier New" pitchFamily="34" charset="0"/>
                <a:ea typeface="Courier New" pitchFamily="34" charset="-122"/>
                <a:cs typeface="Courier New" pitchFamily="34" charset="-120"/>
              </a:rPr>
              <a:t>50%</a:t>
            </a:r>
            <a:endParaRPr lang="en-US" sz="4600" dirty="0"/>
          </a:p>
        </p:txBody>
      </p:sp>
      <p:sp>
        <p:nvSpPr>
          <p:cNvPr id="9" name="Text 6"/>
          <p:cNvSpPr txBox="1"/>
          <p:nvPr/>
        </p:nvSpPr>
        <p:spPr>
          <a:xfrm>
            <a:off x="8686800" y="2880360"/>
            <a:ext cx="2697480" cy="54864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of the timing value that was theoretically available</a:t>
            </a:r>
            <a:endParaRPr lang="en-US" sz="1200" dirty="0"/>
          </a:p>
        </p:txBody>
      </p:sp>
      <p:sp>
        <p:nvSpPr>
          <p:cNvPr id="10" name="Text 7"/>
          <p:cNvSpPr txBox="1"/>
          <p:nvPr/>
        </p:nvSpPr>
        <p:spPr>
          <a:xfrm>
            <a:off x="6812280" y="3858768"/>
            <a:ext cx="2651760" cy="27432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Saving vs naive</a:t>
            </a:r>
            <a:endParaRPr lang="en-US" sz="1200" dirty="0"/>
          </a:p>
        </p:txBody>
      </p:sp>
      <p:sp>
        <p:nvSpPr>
          <p:cNvPr id="11" name="Text 8"/>
          <p:cNvSpPr txBox="1"/>
          <p:nvPr/>
        </p:nvSpPr>
        <p:spPr>
          <a:xfrm>
            <a:off x="9464040" y="3840480"/>
            <a:ext cx="1920240" cy="292608"/>
          </a:xfrm>
          <a:prstGeom prst="rect">
            <a:avLst/>
          </a:prstGeom>
          <a:noFill/>
          <a:ln/>
        </p:spPr>
        <p:txBody>
          <a:bodyPr wrap="square" lIns="0" tIns="0" rIns="0" bIns="0" rtlCol="0" anchor="ctr"/>
          <a:lstStyle/>
          <a:p>
            <a:pPr algn="r" indent="0" marL="0">
              <a:buNone/>
            </a:pPr>
            <a:r>
              <a:rPr lang="en-US" sz="1200" dirty="0">
                <a:solidFill>
                  <a:srgbClr val="F2F5F7"/>
                </a:solidFill>
                <a:latin typeface="Courier New" pitchFamily="34" charset="0"/>
                <a:ea typeface="Courier New" pitchFamily="34" charset="-122"/>
                <a:cs typeface="Courier New" pitchFamily="34" charset="-120"/>
              </a:rPr>
              <a:t>$1.45 /mt</a:t>
            </a:r>
            <a:endParaRPr lang="en-US" sz="1200" dirty="0"/>
          </a:p>
        </p:txBody>
      </p:sp>
      <p:sp>
        <p:nvSpPr>
          <p:cNvPr id="12" name="Text 9"/>
          <p:cNvSpPr txBox="1"/>
          <p:nvPr/>
        </p:nvSpPr>
        <p:spPr>
          <a:xfrm>
            <a:off x="6812280" y="4334256"/>
            <a:ext cx="2651760" cy="27432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Regret vs oracle</a:t>
            </a:r>
            <a:endParaRPr lang="en-US" sz="1200" dirty="0"/>
          </a:p>
        </p:txBody>
      </p:sp>
      <p:sp>
        <p:nvSpPr>
          <p:cNvPr id="13" name="Text 10"/>
          <p:cNvSpPr txBox="1"/>
          <p:nvPr/>
        </p:nvSpPr>
        <p:spPr>
          <a:xfrm>
            <a:off x="9464040" y="4315968"/>
            <a:ext cx="1920240" cy="292608"/>
          </a:xfrm>
          <a:prstGeom prst="rect">
            <a:avLst/>
          </a:prstGeom>
          <a:noFill/>
          <a:ln/>
        </p:spPr>
        <p:txBody>
          <a:bodyPr wrap="square" lIns="0" tIns="0" rIns="0" bIns="0" rtlCol="0" anchor="ctr"/>
          <a:lstStyle/>
          <a:p>
            <a:pPr algn="r" indent="0" marL="0">
              <a:buNone/>
            </a:pPr>
            <a:r>
              <a:rPr lang="en-US" sz="1200" dirty="0">
                <a:solidFill>
                  <a:srgbClr val="F2F5F7"/>
                </a:solidFill>
                <a:latin typeface="Courier New" pitchFamily="34" charset="0"/>
                <a:ea typeface="Courier New" pitchFamily="34" charset="-122"/>
                <a:cs typeface="Courier New" pitchFamily="34" charset="-120"/>
              </a:rPr>
              <a:t>$1.45 /mt</a:t>
            </a:r>
            <a:endParaRPr lang="en-US" sz="1200" dirty="0"/>
          </a:p>
        </p:txBody>
      </p:sp>
      <p:sp>
        <p:nvSpPr>
          <p:cNvPr id="14" name="Text 11"/>
          <p:cNvSpPr txBox="1"/>
          <p:nvPr/>
        </p:nvSpPr>
        <p:spPr>
          <a:xfrm>
            <a:off x="6812280" y="4809744"/>
            <a:ext cx="2651760" cy="27432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Worst quarter</a:t>
            </a:r>
            <a:endParaRPr lang="en-US" sz="1200" dirty="0"/>
          </a:p>
        </p:txBody>
      </p:sp>
      <p:sp>
        <p:nvSpPr>
          <p:cNvPr id="15" name="Text 12"/>
          <p:cNvSpPr txBox="1"/>
          <p:nvPr/>
        </p:nvSpPr>
        <p:spPr>
          <a:xfrm>
            <a:off x="9464040" y="4791456"/>
            <a:ext cx="1920240" cy="292608"/>
          </a:xfrm>
          <a:prstGeom prst="rect">
            <a:avLst/>
          </a:prstGeom>
          <a:noFill/>
          <a:ln/>
        </p:spPr>
        <p:txBody>
          <a:bodyPr wrap="square" lIns="0" tIns="0" rIns="0" bIns="0" rtlCol="0" anchor="ctr"/>
          <a:lstStyle/>
          <a:p>
            <a:pPr algn="r" indent="0" marL="0">
              <a:buNone/>
            </a:pPr>
            <a:r>
              <a:rPr lang="en-US" sz="1200" dirty="0">
                <a:solidFill>
                  <a:srgbClr val="F2F5F7"/>
                </a:solidFill>
                <a:latin typeface="Courier New" pitchFamily="34" charset="0"/>
                <a:ea typeface="Courier New" pitchFamily="34" charset="-122"/>
                <a:cs typeface="Courier New" pitchFamily="34" charset="-120"/>
              </a:rPr>
              <a:t>always reported</a:t>
            </a:r>
            <a:endParaRPr lang="en-US" sz="1200" dirty="0"/>
          </a:p>
        </p:txBody>
      </p:sp>
      <p:sp>
        <p:nvSpPr>
          <p:cNvPr id="16" name="Text 13"/>
          <p:cNvSpPr txBox="1"/>
          <p:nvPr/>
        </p:nvSpPr>
        <p:spPr>
          <a:xfrm>
            <a:off x="6812280" y="5285232"/>
            <a:ext cx="2651760" cy="27432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Tail risk with hedge</a:t>
            </a:r>
            <a:endParaRPr lang="en-US" sz="1200" dirty="0"/>
          </a:p>
        </p:txBody>
      </p:sp>
      <p:sp>
        <p:nvSpPr>
          <p:cNvPr id="17" name="Text 14"/>
          <p:cNvSpPr txBox="1"/>
          <p:nvPr/>
        </p:nvSpPr>
        <p:spPr>
          <a:xfrm>
            <a:off x="9464040" y="5266944"/>
            <a:ext cx="1920240" cy="292608"/>
          </a:xfrm>
          <a:prstGeom prst="rect">
            <a:avLst/>
          </a:prstGeom>
          <a:noFill/>
          <a:ln/>
        </p:spPr>
        <p:txBody>
          <a:bodyPr wrap="square" lIns="0" tIns="0" rIns="0" bIns="0" rtlCol="0" anchor="ctr"/>
          <a:lstStyle/>
          <a:p>
            <a:pPr algn="r" indent="0" marL="0">
              <a:buNone/>
            </a:pPr>
            <a:r>
              <a:rPr lang="en-US" sz="1200" dirty="0">
                <a:solidFill>
                  <a:srgbClr val="F2F5F7"/>
                </a:solidFill>
                <a:latin typeface="Courier New" pitchFamily="34" charset="0"/>
                <a:ea typeface="Courier New" pitchFamily="34" charset="-122"/>
                <a:cs typeface="Courier New" pitchFamily="34" charset="-120"/>
              </a:rPr>
              <a:t>CVaR −38%</a:t>
            </a:r>
            <a:endParaRPr lang="en-US" sz="1200" dirty="0"/>
          </a:p>
        </p:txBody>
      </p:sp>
      <p:sp>
        <p:nvSpPr>
          <p:cNvPr id="18" name="Text 15"/>
          <p:cNvSpPr txBox="1"/>
          <p:nvPr/>
        </p:nvSpPr>
        <p:spPr>
          <a:xfrm>
            <a:off x="6812280" y="5779008"/>
            <a:ext cx="4663440" cy="411480"/>
          </a:xfrm>
          <a:prstGeom prst="rect">
            <a:avLst/>
          </a:prstGeom>
          <a:noFill/>
          <a:ln/>
        </p:spPr>
        <p:txBody>
          <a:bodyPr wrap="square" lIns="0" tIns="0" rIns="0" bIns="0" rtlCol="0" anchor="ctr"/>
          <a:lstStyle/>
          <a:p>
            <a:pPr indent="0" marL="0">
              <a:buNone/>
            </a:pPr>
            <a:r>
              <a:rPr lang="en-US" sz="1100" i="1" dirty="0">
                <a:solidFill>
                  <a:srgbClr val="4FD1C5"/>
                </a:solidFill>
                <a:latin typeface="Arial" pitchFamily="34" charset="0"/>
                <a:ea typeface="Arial" pitchFamily="34" charset="-122"/>
                <a:cs typeface="Arial" pitchFamily="34" charset="-120"/>
              </a:rPr>
              <a:t>Capture ratio is the number to lead with. It concedes the oracle is unreachable, and it is a claim a CFO can act on.</a:t>
            </a:r>
            <a:endParaRPr lang="en-US" sz="1100" dirty="0"/>
          </a:p>
        </p:txBody>
      </p:sp>
      <p:sp>
        <p:nvSpPr>
          <p:cNvPr id="19" name="Text 16"/>
          <p:cNvSpPr txBox="1"/>
          <p:nvPr/>
        </p:nvSpPr>
        <p:spPr>
          <a:xfrm>
            <a:off x="548640" y="6345936"/>
            <a:ext cx="10424160" cy="274320"/>
          </a:xfrm>
          <a:prstGeom prst="rect">
            <a:avLst/>
          </a:prstGeom>
          <a:noFill/>
          <a:ln/>
        </p:spPr>
        <p:txBody>
          <a:bodyPr wrap="square" lIns="0" tIns="0" rIns="0" bIns="0" rtlCol="0" anchor="ctr"/>
          <a:lstStyle/>
          <a:p>
            <a:pPr indent="0" marL="0">
              <a:buNone/>
            </a:pPr>
            <a:r>
              <a:rPr lang="en-US" sz="900" dirty="0">
                <a:solidFill>
                  <a:srgbClr val="5C6D7A"/>
                </a:solidFill>
                <a:latin typeface="Courier New" pitchFamily="34" charset="0"/>
                <a:ea typeface="Courier New" pitchFamily="34" charset="-122"/>
                <a:cs typeface="Courier New" pitchFamily="34" charset="-120"/>
              </a:rPr>
              <a:t>Illustrative structure — populate with your own backtest output. Never quote a saving without its worst case.</a:t>
            </a:r>
            <a:endParaRPr lang="en-US" sz="900" dirty="0"/>
          </a:p>
        </p:txBody>
      </p:sp>
      <p:sp>
        <p:nvSpPr>
          <p:cNvPr id="21" name="Text 17"/>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12 / WHAT'S REAL</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Our data honestly, before you ask</a:t>
            </a:r>
            <a:endParaRPr lang="en-US" sz="3000" dirty="0"/>
          </a:p>
        </p:txBody>
      </p:sp>
      <p:sp>
        <p:nvSpPr>
          <p:cNvPr id="4" name="Shape 2"/>
          <p:cNvSpPr/>
          <p:nvPr/>
        </p:nvSpPr>
        <p:spPr>
          <a:xfrm>
            <a:off x="548640" y="2011680"/>
            <a:ext cx="3520440" cy="3840480"/>
          </a:xfrm>
          <a:prstGeom prst="roundRect">
            <a:avLst>
              <a:gd name="adj" fmla="val 155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5" name="Text 3"/>
          <p:cNvSpPr txBox="1"/>
          <p:nvPr/>
        </p:nvSpPr>
        <p:spPr>
          <a:xfrm>
            <a:off x="804672" y="2194560"/>
            <a:ext cx="3017520" cy="274320"/>
          </a:xfrm>
          <a:prstGeom prst="rect">
            <a:avLst/>
          </a:prstGeom>
          <a:noFill/>
          <a:ln/>
        </p:spPr>
        <p:txBody>
          <a:bodyPr wrap="square" lIns="0" tIns="0" rIns="0" bIns="0" rtlCol="0" anchor="ctr"/>
          <a:lstStyle/>
          <a:p>
            <a:pPr indent="0" marL="0">
              <a:buNone/>
            </a:pPr>
            <a:r>
              <a:rPr lang="en-US" sz="1000" spc="120" kern="0" dirty="0">
                <a:solidFill>
                  <a:srgbClr val="4FD1C5"/>
                </a:solidFill>
                <a:latin typeface="Courier New" pitchFamily="34" charset="0"/>
                <a:ea typeface="Courier New" pitchFamily="34" charset="-122"/>
                <a:cs typeface="Courier New" pitchFamily="34" charset="-120"/>
              </a:rPr>
              <a:t>REAL AND CITED</a:t>
            </a:r>
            <a:endParaRPr lang="en-US" sz="1000" dirty="0"/>
          </a:p>
        </p:txBody>
      </p:sp>
      <p:sp>
        <p:nvSpPr>
          <p:cNvPr id="6" name="Text 4"/>
          <p:cNvSpPr txBox="1"/>
          <p:nvPr/>
        </p:nvSpPr>
        <p:spPr>
          <a:xfrm>
            <a:off x="804672" y="2523744"/>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7" name="Text 5"/>
          <p:cNvSpPr txBox="1"/>
          <p:nvPr/>
        </p:nvSpPr>
        <p:spPr>
          <a:xfrm>
            <a:off x="1024128" y="2496312"/>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Daily port calls and trade estimates</a:t>
            </a:r>
            <a:endParaRPr lang="en-US" sz="1050" dirty="0"/>
          </a:p>
        </p:txBody>
      </p:sp>
      <p:sp>
        <p:nvSpPr>
          <p:cNvPr id="8" name="Text 6"/>
          <p:cNvSpPr txBox="1"/>
          <p:nvPr/>
        </p:nvSpPr>
        <p:spPr>
          <a:xfrm>
            <a:off x="804672" y="2852928"/>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9" name="Text 7"/>
          <p:cNvSpPr txBox="1"/>
          <p:nvPr/>
        </p:nvSpPr>
        <p:spPr>
          <a:xfrm>
            <a:off x="1024128" y="2825496"/>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Official Indian port turnaround and pre-berthing detention</a:t>
            </a:r>
            <a:endParaRPr lang="en-US" sz="1050" dirty="0"/>
          </a:p>
        </p:txBody>
      </p:sp>
      <p:sp>
        <p:nvSpPr>
          <p:cNvPr id="10" name="Text 8"/>
          <p:cNvSpPr txBox="1"/>
          <p:nvPr/>
        </p:nvSpPr>
        <p:spPr>
          <a:xfrm>
            <a:off x="804672" y="3182112"/>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11" name="Text 9"/>
          <p:cNvSpPr txBox="1"/>
          <p:nvPr/>
        </p:nvSpPr>
        <p:spPr>
          <a:xfrm>
            <a:off x="1024128" y="3154680"/>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Daily power-plant coal stocks</a:t>
            </a:r>
            <a:endParaRPr lang="en-US" sz="1050" dirty="0"/>
          </a:p>
        </p:txBody>
      </p:sp>
      <p:sp>
        <p:nvSpPr>
          <p:cNvPr id="12" name="Text 10"/>
          <p:cNvSpPr txBox="1"/>
          <p:nvPr/>
        </p:nvSpPr>
        <p:spPr>
          <a:xfrm>
            <a:off x="804672" y="3511296"/>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13" name="Text 11"/>
          <p:cNvSpPr txBox="1"/>
          <p:nvPr/>
        </p:nvSpPr>
        <p:spPr>
          <a:xfrm>
            <a:off x="1024128" y="3483864"/>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Commodity and energy price series</a:t>
            </a:r>
            <a:endParaRPr lang="en-US" sz="1050" dirty="0"/>
          </a:p>
        </p:txBody>
      </p:sp>
      <p:sp>
        <p:nvSpPr>
          <p:cNvPr id="14" name="Text 12"/>
          <p:cNvSpPr txBox="1"/>
          <p:nvPr/>
        </p:nvSpPr>
        <p:spPr>
          <a:xfrm>
            <a:off x="804672" y="3840480"/>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15" name="Text 13"/>
          <p:cNvSpPr txBox="1"/>
          <p:nvPr/>
        </p:nvSpPr>
        <p:spPr>
          <a:xfrm>
            <a:off x="1024128" y="3813048"/>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Marine weather and cyclone history</a:t>
            </a:r>
            <a:endParaRPr lang="en-US" sz="1050" dirty="0"/>
          </a:p>
        </p:txBody>
      </p:sp>
      <p:sp>
        <p:nvSpPr>
          <p:cNvPr id="16" name="Text 14"/>
          <p:cNvSpPr txBox="1"/>
          <p:nvPr/>
        </p:nvSpPr>
        <p:spPr>
          <a:xfrm>
            <a:off x="804672" y="4169664"/>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17" name="Text 15"/>
          <p:cNvSpPr txBox="1"/>
          <p:nvPr/>
        </p:nvSpPr>
        <p:spPr>
          <a:xfrm>
            <a:off x="1024128" y="4142232"/>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Global news event feed</a:t>
            </a:r>
            <a:endParaRPr lang="en-US" sz="1050" dirty="0"/>
          </a:p>
        </p:txBody>
      </p:sp>
      <p:sp>
        <p:nvSpPr>
          <p:cNvPr id="18" name="Text 16"/>
          <p:cNvSpPr txBox="1"/>
          <p:nvPr/>
        </p:nvSpPr>
        <p:spPr>
          <a:xfrm>
            <a:off x="804672" y="4498848"/>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19" name="Text 17"/>
          <p:cNvSpPr txBox="1"/>
          <p:nvPr/>
        </p:nvSpPr>
        <p:spPr>
          <a:xfrm>
            <a:off x="1024128" y="4471416"/>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Machine-readable port specifications</a:t>
            </a:r>
            <a:endParaRPr lang="en-US" sz="1050" dirty="0"/>
          </a:p>
        </p:txBody>
      </p:sp>
      <p:sp>
        <p:nvSpPr>
          <p:cNvPr id="20" name="Text 18"/>
          <p:cNvSpPr txBox="1"/>
          <p:nvPr/>
        </p:nvSpPr>
        <p:spPr>
          <a:xfrm>
            <a:off x="804672" y="4828032"/>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21" name="Text 19"/>
          <p:cNvSpPr txBox="1"/>
          <p:nvPr/>
        </p:nvSpPr>
        <p:spPr>
          <a:xfrm>
            <a:off x="1024128" y="4800600"/>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Marine routing network graph</a:t>
            </a:r>
            <a:endParaRPr lang="en-US" sz="1050" dirty="0"/>
          </a:p>
        </p:txBody>
      </p:sp>
      <p:sp>
        <p:nvSpPr>
          <p:cNvPr id="22" name="Text 20"/>
          <p:cNvSpPr txBox="1"/>
          <p:nvPr/>
        </p:nvSpPr>
        <p:spPr>
          <a:xfrm>
            <a:off x="804672" y="5157216"/>
            <a:ext cx="182880" cy="256032"/>
          </a:xfrm>
          <a:prstGeom prst="rect">
            <a:avLst/>
          </a:prstGeom>
          <a:noFill/>
          <a:ln/>
        </p:spPr>
        <p:txBody>
          <a:bodyPr wrap="square" lIns="0" tIns="0" rIns="0" bIns="0" rtlCol="0" anchor="ctr"/>
          <a:lstStyle/>
          <a:p>
            <a:pPr indent="0" marL="0">
              <a:buNone/>
            </a:pPr>
            <a:r>
              <a:rPr lang="en-US" sz="1000" dirty="0">
                <a:solidFill>
                  <a:srgbClr val="4FD1C5"/>
                </a:solidFill>
                <a:latin typeface="Arial" pitchFamily="34" charset="0"/>
                <a:ea typeface="Arial" pitchFamily="34" charset="-122"/>
                <a:cs typeface="Arial" pitchFamily="34" charset="-120"/>
              </a:rPr>
              <a:t>✓</a:t>
            </a:r>
            <a:endParaRPr lang="en-US" sz="1000" dirty="0"/>
          </a:p>
        </p:txBody>
      </p:sp>
      <p:sp>
        <p:nvSpPr>
          <p:cNvPr id="23" name="Text 21"/>
          <p:cNvSpPr txBox="1"/>
          <p:nvPr/>
        </p:nvSpPr>
        <p:spPr>
          <a:xfrm>
            <a:off x="1024128" y="5129784"/>
            <a:ext cx="2834640" cy="329184"/>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Quarterly TCE by class from owners' filings</a:t>
            </a:r>
            <a:endParaRPr lang="en-US" sz="1050" dirty="0"/>
          </a:p>
        </p:txBody>
      </p:sp>
      <p:sp>
        <p:nvSpPr>
          <p:cNvPr id="24" name="Shape 22"/>
          <p:cNvSpPr/>
          <p:nvPr/>
        </p:nvSpPr>
        <p:spPr>
          <a:xfrm>
            <a:off x="4343400" y="2011680"/>
            <a:ext cx="3520440" cy="3840480"/>
          </a:xfrm>
          <a:prstGeom prst="roundRect">
            <a:avLst>
              <a:gd name="adj" fmla="val 155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5" name="Text 23"/>
          <p:cNvSpPr txBox="1"/>
          <p:nvPr/>
        </p:nvSpPr>
        <p:spPr>
          <a:xfrm>
            <a:off x="4599432" y="2194560"/>
            <a:ext cx="310896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SIMULATED, AND BADGED AS SUCH</a:t>
            </a:r>
            <a:endParaRPr lang="en-US" sz="1000" dirty="0"/>
          </a:p>
        </p:txBody>
      </p:sp>
      <p:sp>
        <p:nvSpPr>
          <p:cNvPr id="26" name="Text 24"/>
          <p:cNvSpPr txBox="1"/>
          <p:nvPr/>
        </p:nvSpPr>
        <p:spPr>
          <a:xfrm>
            <a:off x="4599432" y="2542032"/>
            <a:ext cx="3063240" cy="118872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Licensed freight route assessments are paywalled and we will not scrape them. So the daily rate series is a calibrated stochastic process — and every simulated value carries a visible badge in the UI.</a:t>
            </a:r>
            <a:endParaRPr lang="en-US" sz="1150" dirty="0"/>
          </a:p>
        </p:txBody>
      </p:sp>
      <p:sp>
        <p:nvSpPr>
          <p:cNvPr id="27" name="Text 25"/>
          <p:cNvSpPr txBox="1"/>
          <p:nvPr/>
        </p:nvSpPr>
        <p:spPr>
          <a:xfrm>
            <a:off x="4599432" y="3840480"/>
            <a:ext cx="3108960" cy="274320"/>
          </a:xfrm>
          <a:prstGeom prst="rect">
            <a:avLst/>
          </a:prstGeom>
          <a:noFill/>
          <a:ln/>
        </p:spPr>
        <p:txBody>
          <a:bodyPr wrap="square" lIns="0" tIns="0" rIns="0" bIns="0" rtlCol="0" anchor="ctr"/>
          <a:lstStyle/>
          <a:p>
            <a:pPr indent="0" marL="0">
              <a:buNone/>
            </a:pPr>
            <a:r>
              <a:rPr lang="en-US" sz="950" spc="100" kern="0" dirty="0">
                <a:solidFill>
                  <a:srgbClr val="5C6D7A"/>
                </a:solidFill>
                <a:latin typeface="Courier New" pitchFamily="34" charset="0"/>
                <a:ea typeface="Courier New" pitchFamily="34" charset="-122"/>
                <a:cs typeface="Courier New" pitchFamily="34" charset="-120"/>
              </a:rPr>
              <a:t>CALIBRATED TO</a:t>
            </a:r>
            <a:endParaRPr lang="en-US" sz="950" dirty="0"/>
          </a:p>
        </p:txBody>
      </p:sp>
      <p:sp>
        <p:nvSpPr>
          <p:cNvPr id="28" name="Text 26"/>
          <p:cNvSpPr txBox="1"/>
          <p:nvPr/>
        </p:nvSpPr>
        <p:spPr>
          <a:xfrm>
            <a:off x="4599432" y="4160520"/>
            <a:ext cx="3063240" cy="31089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Official quarterly TCE disclosures</a:t>
            </a:r>
            <a:endParaRPr lang="en-US" sz="1050" dirty="0"/>
          </a:p>
        </p:txBody>
      </p:sp>
      <p:sp>
        <p:nvSpPr>
          <p:cNvPr id="29" name="Text 27"/>
          <p:cNvSpPr txBox="1"/>
          <p:nvPr/>
        </p:nvSpPr>
        <p:spPr>
          <a:xfrm>
            <a:off x="4599432" y="4489704"/>
            <a:ext cx="3063240" cy="31089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Freight-linked traded instrument volatility</a:t>
            </a:r>
            <a:endParaRPr lang="en-US" sz="1050" dirty="0"/>
          </a:p>
        </p:txBody>
      </p:sp>
      <p:sp>
        <p:nvSpPr>
          <p:cNvPr id="30" name="Text 28"/>
          <p:cNvSpPr txBox="1"/>
          <p:nvPr/>
        </p:nvSpPr>
        <p:spPr>
          <a:xfrm>
            <a:off x="4599432" y="4818888"/>
            <a:ext cx="3063240" cy="31089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Published mean-reversion half-lives</a:t>
            </a:r>
            <a:endParaRPr lang="en-US" sz="1050" dirty="0"/>
          </a:p>
        </p:txBody>
      </p:sp>
      <p:sp>
        <p:nvSpPr>
          <p:cNvPr id="31" name="Text 29"/>
          <p:cNvSpPr txBox="1"/>
          <p:nvPr/>
        </p:nvSpPr>
        <p:spPr>
          <a:xfrm>
            <a:off x="4599432" y="5148072"/>
            <a:ext cx="3063240" cy="31089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Event frequency from the news feed</a:t>
            </a:r>
            <a:endParaRPr lang="en-US" sz="1050" dirty="0"/>
          </a:p>
        </p:txBody>
      </p:sp>
      <p:sp>
        <p:nvSpPr>
          <p:cNvPr id="32" name="Text 30"/>
          <p:cNvSpPr txBox="1"/>
          <p:nvPr/>
        </p:nvSpPr>
        <p:spPr>
          <a:xfrm>
            <a:off x="4599432" y="5504688"/>
            <a:ext cx="3063240" cy="292608"/>
          </a:xfrm>
          <a:prstGeom prst="rect">
            <a:avLst/>
          </a:prstGeom>
          <a:noFill/>
          <a:ln/>
        </p:spPr>
        <p:txBody>
          <a:bodyPr wrap="square" lIns="0" tIns="0" rIns="0" bIns="0" rtlCol="0" anchor="ctr"/>
          <a:lstStyle/>
          <a:p>
            <a:pPr indent="0" marL="0">
              <a:buNone/>
            </a:pPr>
            <a:r>
              <a:rPr lang="en-US" sz="1050" i="1" dirty="0">
                <a:solidFill>
                  <a:srgbClr val="4FD1C5"/>
                </a:solidFill>
                <a:latin typeface="Arial" pitchFamily="34" charset="0"/>
                <a:ea typeface="Arial" pitchFamily="34" charset="-122"/>
                <a:cs typeface="Arial" pitchFamily="34" charset="-120"/>
              </a:rPr>
              <a:t>Then validated against free observables, and the correlation table published.</a:t>
            </a:r>
            <a:endParaRPr lang="en-US" sz="1050" dirty="0"/>
          </a:p>
        </p:txBody>
      </p:sp>
      <p:sp>
        <p:nvSpPr>
          <p:cNvPr id="33" name="Shape 31"/>
          <p:cNvSpPr/>
          <p:nvPr/>
        </p:nvSpPr>
        <p:spPr>
          <a:xfrm>
            <a:off x="8092440" y="2011680"/>
            <a:ext cx="3520440" cy="3840480"/>
          </a:xfrm>
          <a:prstGeom prst="roundRect">
            <a:avLst>
              <a:gd name="adj" fmla="val 1558"/>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34" name="Text 32"/>
          <p:cNvSpPr txBox="1"/>
          <p:nvPr/>
        </p:nvSpPr>
        <p:spPr>
          <a:xfrm>
            <a:off x="8348472" y="2194560"/>
            <a:ext cx="3108960" cy="274320"/>
          </a:xfrm>
          <a:prstGeom prst="rect">
            <a:avLst/>
          </a:prstGeom>
          <a:noFill/>
          <a:ln/>
        </p:spPr>
        <p:txBody>
          <a:bodyPr wrap="square" lIns="0" tIns="0" rIns="0" bIns="0" rtlCol="0" anchor="ctr"/>
          <a:lstStyle/>
          <a:p>
            <a:pPr indent="0" marL="0">
              <a:buNone/>
            </a:pPr>
            <a:r>
              <a:rPr lang="en-US" sz="1000" spc="120" kern="0" dirty="0">
                <a:solidFill>
                  <a:srgbClr val="E5484D"/>
                </a:solidFill>
                <a:latin typeface="Courier New" pitchFamily="34" charset="0"/>
                <a:ea typeface="Courier New" pitchFamily="34" charset="-122"/>
                <a:cs typeface="Courier New" pitchFamily="34" charset="-120"/>
              </a:rPr>
              <a:t>WHAT WE REFUSE TO CLAIM</a:t>
            </a:r>
            <a:endParaRPr lang="en-US" sz="1000" dirty="0"/>
          </a:p>
        </p:txBody>
      </p:sp>
      <p:sp>
        <p:nvSpPr>
          <p:cNvPr id="35" name="Text 33"/>
          <p:cNvSpPr txBox="1"/>
          <p:nvPr/>
        </p:nvSpPr>
        <p:spPr>
          <a:xfrm>
            <a:off x="8348472" y="2606040"/>
            <a:ext cx="201168" cy="256032"/>
          </a:xfrm>
          <a:prstGeom prst="rect">
            <a:avLst/>
          </a:prstGeom>
          <a:noFill/>
          <a:ln/>
        </p:spPr>
        <p:txBody>
          <a:bodyPr wrap="square" lIns="0" tIns="0" rIns="0" bIns="0" rtlCol="0" anchor="ctr"/>
          <a:lstStyle/>
          <a:p>
            <a:pPr indent="0" marL="0">
              <a:buNone/>
            </a:pPr>
            <a:r>
              <a:rPr lang="en-US" sz="1100" dirty="0">
                <a:solidFill>
                  <a:srgbClr val="E5484D"/>
                </a:solidFill>
                <a:latin typeface="Arial" pitchFamily="34" charset="0"/>
                <a:ea typeface="Arial" pitchFamily="34" charset="-122"/>
                <a:cs typeface="Arial" pitchFamily="34" charset="-120"/>
              </a:rPr>
              <a:t>✗</a:t>
            </a:r>
            <a:endParaRPr lang="en-US" sz="1100" dirty="0"/>
          </a:p>
        </p:txBody>
      </p:sp>
      <p:sp>
        <p:nvSpPr>
          <p:cNvPr id="36" name="Text 34"/>
          <p:cNvSpPr txBox="1"/>
          <p:nvPr/>
        </p:nvSpPr>
        <p:spPr>
          <a:xfrm>
            <a:off x="8595360" y="2560320"/>
            <a:ext cx="2834640" cy="64008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That we beat the forward curve at long horizons</a:t>
            </a:r>
            <a:endParaRPr lang="en-US" sz="1150" dirty="0"/>
          </a:p>
        </p:txBody>
      </p:sp>
      <p:sp>
        <p:nvSpPr>
          <p:cNvPr id="37" name="Text 35"/>
          <p:cNvSpPr txBox="1"/>
          <p:nvPr/>
        </p:nvSpPr>
        <p:spPr>
          <a:xfrm>
            <a:off x="8348472" y="3383280"/>
            <a:ext cx="201168" cy="256032"/>
          </a:xfrm>
          <a:prstGeom prst="rect">
            <a:avLst/>
          </a:prstGeom>
          <a:noFill/>
          <a:ln/>
        </p:spPr>
        <p:txBody>
          <a:bodyPr wrap="square" lIns="0" tIns="0" rIns="0" bIns="0" rtlCol="0" anchor="ctr"/>
          <a:lstStyle/>
          <a:p>
            <a:pPr indent="0" marL="0">
              <a:buNone/>
            </a:pPr>
            <a:r>
              <a:rPr lang="en-US" sz="1100" dirty="0">
                <a:solidFill>
                  <a:srgbClr val="E5484D"/>
                </a:solidFill>
                <a:latin typeface="Arial" pitchFamily="34" charset="0"/>
                <a:ea typeface="Arial" pitchFamily="34" charset="-122"/>
                <a:cs typeface="Arial" pitchFamily="34" charset="-120"/>
              </a:rPr>
              <a:t>✗</a:t>
            </a:r>
            <a:endParaRPr lang="en-US" sz="1100" dirty="0"/>
          </a:p>
        </p:txBody>
      </p:sp>
      <p:sp>
        <p:nvSpPr>
          <p:cNvPr id="38" name="Text 36"/>
          <p:cNvSpPr txBox="1"/>
          <p:nvPr/>
        </p:nvSpPr>
        <p:spPr>
          <a:xfrm>
            <a:off x="8595360" y="3337560"/>
            <a:ext cx="2834640" cy="64008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A savings figure without its worst-case counterpart</a:t>
            </a:r>
            <a:endParaRPr lang="en-US" sz="1150" dirty="0"/>
          </a:p>
        </p:txBody>
      </p:sp>
      <p:sp>
        <p:nvSpPr>
          <p:cNvPr id="39" name="Text 37"/>
          <p:cNvSpPr txBox="1"/>
          <p:nvPr/>
        </p:nvSpPr>
        <p:spPr>
          <a:xfrm>
            <a:off x="8348472" y="4160520"/>
            <a:ext cx="201168" cy="256032"/>
          </a:xfrm>
          <a:prstGeom prst="rect">
            <a:avLst/>
          </a:prstGeom>
          <a:noFill/>
          <a:ln/>
        </p:spPr>
        <p:txBody>
          <a:bodyPr wrap="square" lIns="0" tIns="0" rIns="0" bIns="0" rtlCol="0" anchor="ctr"/>
          <a:lstStyle/>
          <a:p>
            <a:pPr indent="0" marL="0">
              <a:buNone/>
            </a:pPr>
            <a:r>
              <a:rPr lang="en-US" sz="1100" dirty="0">
                <a:solidFill>
                  <a:srgbClr val="E5484D"/>
                </a:solidFill>
                <a:latin typeface="Arial" pitchFamily="34" charset="0"/>
                <a:ea typeface="Arial" pitchFamily="34" charset="-122"/>
                <a:cs typeface="Arial" pitchFamily="34" charset="-120"/>
              </a:rPr>
              <a:t>✗</a:t>
            </a:r>
            <a:endParaRPr lang="en-US" sz="1100" dirty="0"/>
          </a:p>
        </p:txBody>
      </p:sp>
      <p:sp>
        <p:nvSpPr>
          <p:cNvPr id="40" name="Text 38"/>
          <p:cNvSpPr txBox="1"/>
          <p:nvPr/>
        </p:nvSpPr>
        <p:spPr>
          <a:xfrm>
            <a:off x="8595360" y="4114800"/>
            <a:ext cx="2834640" cy="64008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Simulated series presented as observed</a:t>
            </a:r>
            <a:endParaRPr lang="en-US" sz="1150" dirty="0"/>
          </a:p>
        </p:txBody>
      </p:sp>
      <p:sp>
        <p:nvSpPr>
          <p:cNvPr id="41" name="Text 39"/>
          <p:cNvSpPr txBox="1"/>
          <p:nvPr/>
        </p:nvSpPr>
        <p:spPr>
          <a:xfrm>
            <a:off x="8348472" y="4937760"/>
            <a:ext cx="201168" cy="256032"/>
          </a:xfrm>
          <a:prstGeom prst="rect">
            <a:avLst/>
          </a:prstGeom>
          <a:noFill/>
          <a:ln/>
        </p:spPr>
        <p:txBody>
          <a:bodyPr wrap="square" lIns="0" tIns="0" rIns="0" bIns="0" rtlCol="0" anchor="ctr"/>
          <a:lstStyle/>
          <a:p>
            <a:pPr indent="0" marL="0">
              <a:buNone/>
            </a:pPr>
            <a:r>
              <a:rPr lang="en-US" sz="1100" dirty="0">
                <a:solidFill>
                  <a:srgbClr val="E5484D"/>
                </a:solidFill>
                <a:latin typeface="Arial" pitchFamily="34" charset="0"/>
                <a:ea typeface="Arial" pitchFamily="34" charset="-122"/>
                <a:cs typeface="Arial" pitchFamily="34" charset="-120"/>
              </a:rPr>
              <a:t>✗</a:t>
            </a:r>
            <a:endParaRPr lang="en-US" sz="1100" dirty="0"/>
          </a:p>
        </p:txBody>
      </p:sp>
      <p:sp>
        <p:nvSpPr>
          <p:cNvPr id="42" name="Text 40"/>
          <p:cNvSpPr txBox="1"/>
          <p:nvPr/>
        </p:nvSpPr>
        <p:spPr>
          <a:xfrm>
            <a:off x="8595360" y="4892040"/>
            <a:ext cx="2834640" cy="640080"/>
          </a:xfrm>
          <a:prstGeom prst="rect">
            <a:avLst/>
          </a:prstGeom>
          <a:noFill/>
          <a:ln/>
        </p:spPr>
        <p:txBody>
          <a:bodyPr wrap="square" lIns="0" tIns="0" rIns="0" bIns="0" rtlCol="0" anchor="ctr"/>
          <a:lstStyle/>
          <a:p>
            <a:pPr indent="0" marL="0">
              <a:buNone/>
            </a:pPr>
            <a:r>
              <a:rPr lang="en-US" sz="1150" dirty="0">
                <a:solidFill>
                  <a:srgbClr val="F2F5F7"/>
                </a:solidFill>
                <a:latin typeface="Arial" pitchFamily="34" charset="0"/>
                <a:ea typeface="Arial" pitchFamily="34" charset="-122"/>
                <a:cs typeface="Arial" pitchFamily="34" charset="-120"/>
              </a:rPr>
              <a:t>A confidence number whose calibration we haven't measured</a:t>
            </a:r>
            <a:endParaRPr lang="en-US" sz="1150" dirty="0"/>
          </a:p>
        </p:txBody>
      </p:sp>
      <p:sp>
        <p:nvSpPr>
          <p:cNvPr id="43" name="Text 41"/>
          <p:cNvSpPr txBox="1"/>
          <p:nvPr/>
        </p:nvSpPr>
        <p:spPr>
          <a:xfrm>
            <a:off x="8348472" y="5504688"/>
            <a:ext cx="3108960" cy="292608"/>
          </a:xfrm>
          <a:prstGeom prst="rect">
            <a:avLst/>
          </a:prstGeom>
          <a:noFill/>
          <a:ln/>
        </p:spPr>
        <p:txBody>
          <a:bodyPr wrap="square" lIns="0" tIns="0" rIns="0" bIns="0" rtlCol="0" anchor="ctr"/>
          <a:lstStyle/>
          <a:p>
            <a:pPr indent="0" marL="0">
              <a:buNone/>
            </a:pPr>
            <a:r>
              <a:rPr lang="en-US" sz="1050" i="1" dirty="0">
                <a:solidFill>
                  <a:srgbClr val="8A9BA8"/>
                </a:solidFill>
                <a:latin typeface="Arial" pitchFamily="34" charset="0"/>
                <a:ea typeface="Arial" pitchFamily="34" charset="-122"/>
                <a:cs typeface="Arial" pitchFamily="34" charset="-120"/>
              </a:rPr>
              <a:t>A licence is a config change and a line in the funding plan — not an architectural problem.</a:t>
            </a:r>
            <a:endParaRPr lang="en-US" sz="1050" dirty="0"/>
          </a:p>
        </p:txBody>
      </p:sp>
      <p:sp>
        <p:nvSpPr>
          <p:cNvPr id="45" name="Text 42"/>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13 / POSITIONING</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Incumbents sell terminals. We sell a decision.</a:t>
            </a:r>
            <a:endParaRPr lang="en-US" sz="3000" dirty="0"/>
          </a:p>
        </p:txBody>
      </p:sp>
      <p:sp>
        <p:nvSpPr>
          <p:cNvPr id="4" name="Shape 2"/>
          <p:cNvSpPr/>
          <p:nvPr/>
        </p:nvSpPr>
        <p:spPr>
          <a:xfrm>
            <a:off x="548640" y="2103120"/>
            <a:ext cx="5349240" cy="3566160"/>
          </a:xfrm>
          <a:prstGeom prst="roundRect">
            <a:avLst>
              <a:gd name="adj" fmla="val 153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5" name="Text 3"/>
          <p:cNvSpPr txBox="1"/>
          <p:nvPr/>
        </p:nvSpPr>
        <p:spPr>
          <a:xfrm>
            <a:off x="822960" y="2286000"/>
            <a:ext cx="4754880" cy="274320"/>
          </a:xfrm>
          <a:prstGeom prst="rect">
            <a:avLst/>
          </a:prstGeom>
          <a:noFill/>
          <a:ln/>
        </p:spPr>
        <p:txBody>
          <a:bodyPr wrap="square" lIns="0" tIns="0" rIns="0" bIns="0" rtlCol="0" anchor="ctr"/>
          <a:lstStyle/>
          <a:p>
            <a:pPr indent="0" marL="0">
              <a:buNone/>
            </a:pPr>
            <a:r>
              <a:rPr lang="en-US" sz="1000" spc="120" kern="0" dirty="0">
                <a:solidFill>
                  <a:srgbClr val="5C6D7A"/>
                </a:solidFill>
                <a:latin typeface="Courier New" pitchFamily="34" charset="0"/>
                <a:ea typeface="Courier New" pitchFamily="34" charset="-122"/>
                <a:cs typeface="Courier New" pitchFamily="34" charset="-120"/>
              </a:rPr>
              <a:t>MARITIME INTELLIGENCE PLATFORMS</a:t>
            </a:r>
            <a:endParaRPr lang="en-US" sz="1000" dirty="0"/>
          </a:p>
        </p:txBody>
      </p:sp>
      <p:sp>
        <p:nvSpPr>
          <p:cNvPr id="6" name="Text 4"/>
          <p:cNvSpPr txBox="1"/>
          <p:nvPr/>
        </p:nvSpPr>
        <p:spPr>
          <a:xfrm>
            <a:off x="822960" y="2606040"/>
            <a:ext cx="4754880" cy="502920"/>
          </a:xfrm>
          <a:prstGeom prst="rect">
            <a:avLst/>
          </a:prstGeom>
          <a:noFill/>
          <a:ln/>
        </p:spPr>
        <p:txBody>
          <a:bodyPr wrap="square" lIns="0" tIns="0" rIns="0" bIns="0" rtlCol="0" anchor="ctr"/>
          <a:lstStyle/>
          <a:p>
            <a:pPr indent="0" marL="0">
              <a:buNone/>
            </a:pPr>
            <a:r>
              <a:rPr lang="en-US" sz="1200" dirty="0">
                <a:solidFill>
                  <a:srgbClr val="8A9BA8"/>
                </a:solidFill>
                <a:latin typeface="Arial" pitchFamily="34" charset="0"/>
                <a:ea typeface="Arial" pitchFamily="34" charset="-122"/>
                <a:cs typeface="Arial" pitchFamily="34" charset="-120"/>
              </a:rPr>
              <a:t>Vessel tracking, market data, fixture history, voyage management, chartering workflow</a:t>
            </a:r>
            <a:endParaRPr lang="en-US" sz="1200" dirty="0"/>
          </a:p>
        </p:txBody>
      </p:sp>
      <p:sp>
        <p:nvSpPr>
          <p:cNvPr id="7" name="Text 5"/>
          <p:cNvSpPr txBox="1"/>
          <p:nvPr/>
        </p:nvSpPr>
        <p:spPr>
          <a:xfrm>
            <a:off x="822960" y="3246120"/>
            <a:ext cx="4754880" cy="274320"/>
          </a:xfrm>
          <a:prstGeom prst="rect">
            <a:avLst/>
          </a:prstGeom>
          <a:noFill/>
          <a:ln/>
        </p:spPr>
        <p:txBody>
          <a:bodyPr wrap="square" lIns="0" tIns="0" rIns="0" bIns="0" rtlCol="0" anchor="ctr"/>
          <a:lstStyle/>
          <a:p>
            <a:pPr indent="0" marL="0">
              <a:buNone/>
            </a:pPr>
            <a:r>
              <a:rPr lang="en-US" sz="950" spc="100" kern="0" dirty="0">
                <a:solidFill>
                  <a:srgbClr val="5C6D7A"/>
                </a:solidFill>
                <a:latin typeface="Courier New" pitchFamily="34" charset="0"/>
                <a:ea typeface="Courier New" pitchFamily="34" charset="-122"/>
                <a:cs typeface="Courier New" pitchFamily="34" charset="-120"/>
              </a:rPr>
              <a:t>SOLD TO</a:t>
            </a:r>
            <a:endParaRPr lang="en-US" sz="950" dirty="0"/>
          </a:p>
        </p:txBody>
      </p:sp>
      <p:sp>
        <p:nvSpPr>
          <p:cNvPr id="8" name="Text 6"/>
          <p:cNvSpPr txBox="1"/>
          <p:nvPr/>
        </p:nvSpPr>
        <p:spPr>
          <a:xfrm>
            <a:off x="822960" y="3547872"/>
            <a:ext cx="4754880" cy="36576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Shipowners · operators · brokers · commodity trading desks</a:t>
            </a:r>
            <a:endParaRPr lang="en-US" sz="1300" dirty="0"/>
          </a:p>
        </p:txBody>
      </p:sp>
      <p:sp>
        <p:nvSpPr>
          <p:cNvPr id="9" name="Text 7"/>
          <p:cNvSpPr txBox="1"/>
          <p:nvPr/>
        </p:nvSpPr>
        <p:spPr>
          <a:xfrm>
            <a:off x="822960" y="4023360"/>
            <a:ext cx="4754880" cy="73152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People who charter every day, have a desk, and already know what the market is worth. They need data, and they buy it by the seat.</a:t>
            </a:r>
            <a:endParaRPr lang="en-US" sz="1150" dirty="0"/>
          </a:p>
        </p:txBody>
      </p:sp>
      <p:sp>
        <p:nvSpPr>
          <p:cNvPr id="10" name="Text 8"/>
          <p:cNvSpPr txBox="1"/>
          <p:nvPr/>
        </p:nvSpPr>
        <p:spPr>
          <a:xfrm>
            <a:off x="822960" y="4846320"/>
            <a:ext cx="4754880" cy="640080"/>
          </a:xfrm>
          <a:prstGeom prst="rect">
            <a:avLst/>
          </a:prstGeom>
          <a:noFill/>
          <a:ln/>
        </p:spPr>
        <p:txBody>
          <a:bodyPr wrap="square" lIns="0" tIns="0" rIns="0" bIns="0" rtlCol="0" anchor="ctr"/>
          <a:lstStyle/>
          <a:p>
            <a:pPr indent="0" marL="0">
              <a:buNone/>
            </a:pPr>
            <a:r>
              <a:rPr lang="en-US" sz="1150" i="1" dirty="0">
                <a:solidFill>
                  <a:srgbClr val="8A9BA8"/>
                </a:solidFill>
                <a:latin typeface="Arial" pitchFamily="34" charset="0"/>
                <a:ea typeface="Arial" pitchFamily="34" charset="-122"/>
                <a:cs typeface="Arial" pitchFamily="34" charset="-120"/>
              </a:rPr>
              <a:t>They do not sell a prescriptive fix-or-wait threshold, a port-constrained vessel choice, an instrument mix, or a hedge — to a buyer with no desk.</a:t>
            </a:r>
            <a:endParaRPr lang="en-US" sz="1150" dirty="0"/>
          </a:p>
        </p:txBody>
      </p:sp>
      <p:sp>
        <p:nvSpPr>
          <p:cNvPr id="11" name="Shape 9"/>
          <p:cNvSpPr/>
          <p:nvPr/>
        </p:nvSpPr>
        <p:spPr>
          <a:xfrm>
            <a:off x="6263640" y="2103120"/>
            <a:ext cx="5349240" cy="3566160"/>
          </a:xfrm>
          <a:prstGeom prst="roundRect">
            <a:avLst>
              <a:gd name="adj" fmla="val 1538"/>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6537960" y="2286000"/>
            <a:ext cx="4754880" cy="320040"/>
          </a:xfrm>
          <a:prstGeom prst="rect">
            <a:avLst/>
          </a:prstGeom>
          <a:noFill/>
          <a:ln/>
        </p:spPr>
        <p:txBody>
          <a:bodyPr wrap="square" lIns="0" tIns="0" rIns="0" bIns="0" rtlCol="0" anchor="ctr"/>
          <a:lstStyle/>
          <a:p>
            <a:pPr indent="0" marL="0">
              <a:buNone/>
            </a:pPr>
            <a:r>
              <a:rPr lang="en-US" sz="1700" b="1" dirty="0">
                <a:solidFill>
                  <a:srgbClr val="FF8A3D"/>
                </a:solidFill>
                <a:latin typeface="Arial" pitchFamily="34" charset="0"/>
                <a:ea typeface="Arial" pitchFamily="34" charset="-122"/>
                <a:cs typeface="Arial" pitchFamily="34" charset="-120"/>
              </a:rPr>
              <a:t>LAYCAN</a:t>
            </a:r>
            <a:endParaRPr lang="en-US" sz="1700" dirty="0"/>
          </a:p>
        </p:txBody>
      </p:sp>
      <p:sp>
        <p:nvSpPr>
          <p:cNvPr id="13" name="Text 11"/>
          <p:cNvSpPr txBox="1"/>
          <p:nvPr/>
        </p:nvSpPr>
        <p:spPr>
          <a:xfrm>
            <a:off x="6537960" y="2651760"/>
            <a:ext cx="4754880" cy="457200"/>
          </a:xfrm>
          <a:prstGeom prst="rect">
            <a:avLst/>
          </a:prstGeom>
          <a:noFill/>
          <a:ln/>
        </p:spPr>
        <p:txBody>
          <a:bodyPr wrap="square" lIns="0" tIns="0" rIns="0" bIns="0" rtlCol="0" anchor="ctr"/>
          <a:lstStyle/>
          <a:p>
            <a:pPr indent="0" marL="0">
              <a:buNone/>
            </a:pPr>
            <a:r>
              <a:rPr lang="en-US" sz="1200" dirty="0">
                <a:solidFill>
                  <a:srgbClr val="F2F5F7"/>
                </a:solidFill>
                <a:latin typeface="Arial" pitchFamily="34" charset="0"/>
                <a:ea typeface="Arial" pitchFamily="34" charset="-122"/>
                <a:cs typeface="Arial" pitchFamily="34" charset="-120"/>
              </a:rPr>
              <a:t>A daily decision with a threshold, a vessel, an instrument and a hedge — backtested in money</a:t>
            </a:r>
            <a:endParaRPr lang="en-US" sz="1200" dirty="0"/>
          </a:p>
        </p:txBody>
      </p:sp>
      <p:sp>
        <p:nvSpPr>
          <p:cNvPr id="14" name="Text 12"/>
          <p:cNvSpPr txBox="1"/>
          <p:nvPr/>
        </p:nvSpPr>
        <p:spPr>
          <a:xfrm>
            <a:off x="6537960" y="3246120"/>
            <a:ext cx="4754880" cy="274320"/>
          </a:xfrm>
          <a:prstGeom prst="rect">
            <a:avLst/>
          </a:prstGeom>
          <a:noFill/>
          <a:ln/>
        </p:spPr>
        <p:txBody>
          <a:bodyPr wrap="square" lIns="0" tIns="0" rIns="0" bIns="0" rtlCol="0" anchor="ctr"/>
          <a:lstStyle/>
          <a:p>
            <a:pPr indent="0" marL="0">
              <a:buNone/>
            </a:pPr>
            <a:r>
              <a:rPr lang="en-US" sz="950" spc="100" kern="0" dirty="0">
                <a:solidFill>
                  <a:srgbClr val="5C6D7A"/>
                </a:solidFill>
                <a:latin typeface="Courier New" pitchFamily="34" charset="0"/>
                <a:ea typeface="Courier New" pitchFamily="34" charset="-122"/>
                <a:cs typeface="Courier New" pitchFamily="34" charset="-120"/>
              </a:rPr>
              <a:t>SOLD TO</a:t>
            </a:r>
            <a:endParaRPr lang="en-US" sz="950" dirty="0"/>
          </a:p>
        </p:txBody>
      </p:sp>
      <p:sp>
        <p:nvSpPr>
          <p:cNvPr id="15" name="Text 13"/>
          <p:cNvSpPr txBox="1"/>
          <p:nvPr/>
        </p:nvSpPr>
        <p:spPr>
          <a:xfrm>
            <a:off x="6537960" y="3547872"/>
            <a:ext cx="4754880" cy="36576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Industrial importers moving 0.5–10 Mtpa with no chartering desk</a:t>
            </a:r>
            <a:endParaRPr lang="en-US" sz="1300" dirty="0"/>
          </a:p>
        </p:txBody>
      </p:sp>
      <p:sp>
        <p:nvSpPr>
          <p:cNvPr id="16" name="Text 14"/>
          <p:cNvSpPr txBox="1"/>
          <p:nvPr/>
        </p:nvSpPr>
        <p:spPr>
          <a:xfrm>
            <a:off x="6537960" y="4023360"/>
            <a:ext cx="4754880" cy="82296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Steel, power and cement companies with real freight exposure, no quantitative rate policy, and no hedge. Big enough for the savings to matter, small enough not to have built the capability.</a:t>
            </a:r>
            <a:endParaRPr lang="en-US" sz="1150" dirty="0"/>
          </a:p>
        </p:txBody>
      </p:sp>
      <p:sp>
        <p:nvSpPr>
          <p:cNvPr id="17" name="Text 15"/>
          <p:cNvSpPr txBox="1"/>
          <p:nvPr/>
        </p:nvSpPr>
        <p:spPr>
          <a:xfrm>
            <a:off x="6537960" y="5029200"/>
            <a:ext cx="4754880" cy="365760"/>
          </a:xfrm>
          <a:prstGeom prst="rect">
            <a:avLst/>
          </a:prstGeom>
          <a:noFill/>
          <a:ln/>
        </p:spPr>
        <p:txBody>
          <a:bodyPr wrap="square" lIns="0" tIns="0" rIns="0" bIns="0" rtlCol="0" anchor="ctr"/>
          <a:lstStyle/>
          <a:p>
            <a:pPr indent="0" marL="0">
              <a:buNone/>
            </a:pPr>
            <a:r>
              <a:rPr lang="en-US" sz="1300" b="1" dirty="0">
                <a:solidFill>
                  <a:srgbClr val="4FD1C5"/>
                </a:solidFill>
                <a:latin typeface="Arial" pitchFamily="34" charset="0"/>
                <a:ea typeface="Arial" pitchFamily="34" charset="-122"/>
                <a:cs typeface="Arial" pitchFamily="34" charset="-120"/>
              </a:rPr>
              <a:t>Different buyer. Different product. An unoccupied position.</a:t>
            </a:r>
            <a:endParaRPr lang="en-US" sz="1300" dirty="0"/>
          </a:p>
        </p:txBody>
      </p:sp>
      <p:sp>
        <p:nvSpPr>
          <p:cNvPr id="18" name="Text 16"/>
          <p:cNvSpPr txBox="1"/>
          <p:nvPr/>
        </p:nvSpPr>
        <p:spPr>
          <a:xfrm>
            <a:off x="548640" y="6345936"/>
            <a:ext cx="10424160" cy="274320"/>
          </a:xfrm>
          <a:prstGeom prst="rect">
            <a:avLst/>
          </a:prstGeom>
          <a:noFill/>
          <a:ln/>
        </p:spPr>
        <p:txBody>
          <a:bodyPr wrap="square" lIns="0" tIns="0" rIns="0" bIns="0" rtlCol="0" anchor="ctr"/>
          <a:lstStyle/>
          <a:p>
            <a:pPr indent="0" marL="0">
              <a:buNone/>
            </a:pPr>
            <a:r>
              <a:rPr lang="en-US" sz="900" dirty="0">
                <a:solidFill>
                  <a:srgbClr val="5C6D7A"/>
                </a:solidFill>
                <a:latin typeface="Courier New" pitchFamily="34" charset="0"/>
                <a:ea typeface="Courier New" pitchFamily="34" charset="-122"/>
                <a:cs typeface="Courier New" pitchFamily="34" charset="-120"/>
              </a:rPr>
              <a:t>Competitive claims pending verification (VERIFY-FIRST V12) — test this hypothesis before pitching it.</a:t>
            </a:r>
            <a:endParaRPr lang="en-US" sz="900" dirty="0"/>
          </a:p>
        </p:txBody>
      </p:sp>
      <p:sp>
        <p:nvSpPr>
          <p:cNvPr id="19" name="Text 17"/>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14 / THE COMPANY</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Be the decision to earn the data</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Then be the data to earn the index — a benchmark for India-bound bulk freight that nobody publishes today.</a:t>
            </a:r>
            <a:endParaRPr lang="en-US" sz="1450" dirty="0"/>
          </a:p>
        </p:txBody>
      </p:sp>
      <p:sp>
        <p:nvSpPr>
          <p:cNvPr id="5" name="Shape 3"/>
          <p:cNvSpPr/>
          <p:nvPr/>
        </p:nvSpPr>
        <p:spPr>
          <a:xfrm>
            <a:off x="548640" y="2057400"/>
            <a:ext cx="3520440" cy="2377440"/>
          </a:xfrm>
          <a:prstGeom prst="roundRect">
            <a:avLst>
              <a:gd name="adj" fmla="val 230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04672" y="2240280"/>
            <a:ext cx="146304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PHASE 1</a:t>
            </a:r>
            <a:endParaRPr lang="en-US" sz="1000" dirty="0"/>
          </a:p>
        </p:txBody>
      </p:sp>
      <p:sp>
        <p:nvSpPr>
          <p:cNvPr id="7" name="Text 5"/>
          <p:cNvSpPr txBox="1"/>
          <p:nvPr/>
        </p:nvSpPr>
        <p:spPr>
          <a:xfrm>
            <a:off x="2286000" y="2240280"/>
            <a:ext cx="1554480" cy="274320"/>
          </a:xfrm>
          <a:prstGeom prst="rect">
            <a:avLst/>
          </a:prstGeom>
          <a:noFill/>
          <a:ln/>
        </p:spPr>
        <p:txBody>
          <a:bodyPr wrap="square" lIns="0" tIns="0" rIns="0" bIns="0" rtlCol="0" anchor="ctr"/>
          <a:lstStyle/>
          <a:p>
            <a:pPr algn="r" indent="0" marL="0">
              <a:buNone/>
            </a:pPr>
            <a:r>
              <a:rPr lang="en-US" sz="1000" dirty="0">
                <a:solidFill>
                  <a:srgbClr val="5C6D7A"/>
                </a:solidFill>
                <a:latin typeface="Courier New" pitchFamily="34" charset="0"/>
                <a:ea typeface="Courier New" pitchFamily="34" charset="-122"/>
                <a:cs typeface="Courier New" pitchFamily="34" charset="-120"/>
              </a:rPr>
              <a:t>0–6 months</a:t>
            </a:r>
            <a:endParaRPr lang="en-US" sz="1000" dirty="0"/>
          </a:p>
        </p:txBody>
      </p:sp>
      <p:sp>
        <p:nvSpPr>
          <p:cNvPr id="8" name="Text 6"/>
          <p:cNvSpPr txBox="1"/>
          <p:nvPr/>
        </p:nvSpPr>
        <p:spPr>
          <a:xfrm>
            <a:off x="804672" y="2578608"/>
            <a:ext cx="3017520" cy="502920"/>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One route, one customer, shadow mode</a:t>
            </a:r>
            <a:endParaRPr lang="en-US" sz="1450" dirty="0"/>
          </a:p>
        </p:txBody>
      </p:sp>
      <p:sp>
        <p:nvSpPr>
          <p:cNvPr id="9" name="Text 7"/>
          <p:cNvSpPr txBox="1"/>
          <p:nvPr/>
        </p:nvSpPr>
        <p:spPr>
          <a:xfrm>
            <a:off x="804672" y="3200400"/>
            <a:ext cx="3017520" cy="109728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Run alongside an existing desk for a quarter. Log every recommendation immutably. The deliverable is not software — it is a number.</a:t>
            </a:r>
            <a:endParaRPr lang="en-US" sz="1150" dirty="0"/>
          </a:p>
        </p:txBody>
      </p:sp>
      <p:sp>
        <p:nvSpPr>
          <p:cNvPr id="10" name="Shape 8"/>
          <p:cNvSpPr/>
          <p:nvPr/>
        </p:nvSpPr>
        <p:spPr>
          <a:xfrm>
            <a:off x="4315968" y="2057400"/>
            <a:ext cx="3520440" cy="2377440"/>
          </a:xfrm>
          <a:prstGeom prst="roundRect">
            <a:avLst>
              <a:gd name="adj" fmla="val 230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572000" y="2240280"/>
            <a:ext cx="146304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PHASE 2</a:t>
            </a:r>
            <a:endParaRPr lang="en-US" sz="1000" dirty="0"/>
          </a:p>
        </p:txBody>
      </p:sp>
      <p:sp>
        <p:nvSpPr>
          <p:cNvPr id="12" name="Text 10"/>
          <p:cNvSpPr txBox="1"/>
          <p:nvPr/>
        </p:nvSpPr>
        <p:spPr>
          <a:xfrm>
            <a:off x="6053328" y="2240280"/>
            <a:ext cx="1554480" cy="274320"/>
          </a:xfrm>
          <a:prstGeom prst="rect">
            <a:avLst/>
          </a:prstGeom>
          <a:noFill/>
          <a:ln/>
        </p:spPr>
        <p:txBody>
          <a:bodyPr wrap="square" lIns="0" tIns="0" rIns="0" bIns="0" rtlCol="0" anchor="ctr"/>
          <a:lstStyle/>
          <a:p>
            <a:pPr algn="r" indent="0" marL="0">
              <a:buNone/>
            </a:pPr>
            <a:r>
              <a:rPr lang="en-US" sz="1000" dirty="0">
                <a:solidFill>
                  <a:srgbClr val="5C6D7A"/>
                </a:solidFill>
                <a:latin typeface="Courier New" pitchFamily="34" charset="0"/>
                <a:ea typeface="Courier New" pitchFamily="34" charset="-122"/>
                <a:cs typeface="Courier New" pitchFamily="34" charset="-120"/>
              </a:rPr>
              <a:t>6–18 months</a:t>
            </a:r>
            <a:endParaRPr lang="en-US" sz="1000" dirty="0"/>
          </a:p>
        </p:txBody>
      </p:sp>
      <p:sp>
        <p:nvSpPr>
          <p:cNvPr id="13" name="Text 11"/>
          <p:cNvSpPr txBox="1"/>
          <p:nvPr/>
        </p:nvSpPr>
        <p:spPr>
          <a:xfrm>
            <a:off x="4572000" y="2578608"/>
            <a:ext cx="3017520" cy="502920"/>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The product</a:t>
            </a:r>
            <a:endParaRPr lang="en-US" sz="1450" dirty="0"/>
          </a:p>
        </p:txBody>
      </p:sp>
      <p:sp>
        <p:nvSpPr>
          <p:cNvPr id="14" name="Text 12"/>
          <p:cNvSpPr txBox="1"/>
          <p:nvPr/>
        </p:nvSpPr>
        <p:spPr>
          <a:xfrm>
            <a:off x="4572000" y="3200400"/>
            <a:ext cx="3017520" cy="109728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Full instrument layer, hedge advisory, ERP integration, multi-plant portfolio. Three to five paying customers. Pricing normalises.</a:t>
            </a:r>
            <a:endParaRPr lang="en-US" sz="1150" dirty="0"/>
          </a:p>
        </p:txBody>
      </p:sp>
      <p:sp>
        <p:nvSpPr>
          <p:cNvPr id="15" name="Shape 13"/>
          <p:cNvSpPr/>
          <p:nvPr/>
        </p:nvSpPr>
        <p:spPr>
          <a:xfrm>
            <a:off x="8083296" y="2057400"/>
            <a:ext cx="3520440" cy="2377440"/>
          </a:xfrm>
          <a:prstGeom prst="roundRect">
            <a:avLst>
              <a:gd name="adj" fmla="val 2308"/>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16" name="Text 14"/>
          <p:cNvSpPr txBox="1"/>
          <p:nvPr/>
        </p:nvSpPr>
        <p:spPr>
          <a:xfrm>
            <a:off x="8339328" y="2240280"/>
            <a:ext cx="146304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PHASE 3</a:t>
            </a:r>
            <a:endParaRPr lang="en-US" sz="1000" dirty="0"/>
          </a:p>
        </p:txBody>
      </p:sp>
      <p:sp>
        <p:nvSpPr>
          <p:cNvPr id="17" name="Text 15"/>
          <p:cNvSpPr txBox="1"/>
          <p:nvPr/>
        </p:nvSpPr>
        <p:spPr>
          <a:xfrm>
            <a:off x="9820656" y="2240280"/>
            <a:ext cx="1554480" cy="274320"/>
          </a:xfrm>
          <a:prstGeom prst="rect">
            <a:avLst/>
          </a:prstGeom>
          <a:noFill/>
          <a:ln/>
        </p:spPr>
        <p:txBody>
          <a:bodyPr wrap="square" lIns="0" tIns="0" rIns="0" bIns="0" rtlCol="0" anchor="ctr"/>
          <a:lstStyle/>
          <a:p>
            <a:pPr algn="r" indent="0" marL="0">
              <a:buNone/>
            </a:pPr>
            <a:r>
              <a:rPr lang="en-US" sz="1000" dirty="0">
                <a:solidFill>
                  <a:srgbClr val="5C6D7A"/>
                </a:solidFill>
                <a:latin typeface="Courier New" pitchFamily="34" charset="0"/>
                <a:ea typeface="Courier New" pitchFamily="34" charset="-122"/>
                <a:cs typeface="Courier New" pitchFamily="34" charset="-120"/>
              </a:rPr>
              <a:t>18–36 months</a:t>
            </a:r>
            <a:endParaRPr lang="en-US" sz="1000" dirty="0"/>
          </a:p>
        </p:txBody>
      </p:sp>
      <p:sp>
        <p:nvSpPr>
          <p:cNvPr id="18" name="Text 16"/>
          <p:cNvSpPr txBox="1"/>
          <p:nvPr/>
        </p:nvSpPr>
        <p:spPr>
          <a:xfrm>
            <a:off x="8339328" y="2578608"/>
            <a:ext cx="3017520" cy="502920"/>
          </a:xfrm>
          <a:prstGeom prst="rect">
            <a:avLst/>
          </a:prstGeom>
          <a:noFill/>
          <a:ln/>
        </p:spPr>
        <p:txBody>
          <a:bodyPr wrap="square" lIns="0" tIns="0" rIns="0" bIns="0" rtlCol="0" anchor="ctr"/>
          <a:lstStyle/>
          <a:p>
            <a:pPr indent="0" marL="0">
              <a:buNone/>
            </a:pPr>
            <a:r>
              <a:rPr lang="en-US" sz="1450" b="1" dirty="0">
                <a:solidFill>
                  <a:srgbClr val="F2F5F7"/>
                </a:solidFill>
                <a:latin typeface="Arial" pitchFamily="34" charset="0"/>
                <a:ea typeface="Arial" pitchFamily="34" charset="-122"/>
                <a:cs typeface="Arial" pitchFamily="34" charset="-120"/>
              </a:rPr>
              <a:t>The data asset</a:t>
            </a:r>
            <a:endParaRPr lang="en-US" sz="1450" dirty="0"/>
          </a:p>
        </p:txBody>
      </p:sp>
      <p:sp>
        <p:nvSpPr>
          <p:cNvPr id="19" name="Text 17"/>
          <p:cNvSpPr txBox="1"/>
          <p:nvPr/>
        </p:nvSpPr>
        <p:spPr>
          <a:xfrm>
            <a:off x="8339328" y="3200400"/>
            <a:ext cx="3017520" cy="1097280"/>
          </a:xfrm>
          <a:prstGeom prst="rect">
            <a:avLst/>
          </a:prstGeom>
          <a:noFill/>
          <a:ln/>
        </p:spPr>
        <p:txBody>
          <a:bodyPr wrap="square" lIns="0" tIns="0" rIns="0" bIns="0" rtlCol="0" anchor="ctr"/>
          <a:lstStyle/>
          <a:p>
            <a:pPr indent="0" marL="0">
              <a:buNone/>
            </a:pPr>
            <a:r>
              <a:rPr lang="en-US" sz="1150" dirty="0">
                <a:solidFill>
                  <a:srgbClr val="8A9BA8"/>
                </a:solidFill>
                <a:latin typeface="Arial" pitchFamily="34" charset="0"/>
                <a:ea typeface="Arial" pitchFamily="34" charset="-122"/>
                <a:cs typeface="Arial" pitchFamily="34" charset="-120"/>
              </a:rPr>
              <a:t>Models trained on real fixture outcomes. And an authoritative benchmark for India-bound dry bulk freight, which does not exist publicly today.</a:t>
            </a:r>
            <a:endParaRPr lang="en-US" sz="1150" dirty="0"/>
          </a:p>
        </p:txBody>
      </p:sp>
      <p:sp>
        <p:nvSpPr>
          <p:cNvPr id="20" name="Shape 18"/>
          <p:cNvSpPr/>
          <p:nvPr/>
        </p:nvSpPr>
        <p:spPr>
          <a:xfrm>
            <a:off x="548640" y="4663440"/>
            <a:ext cx="11064240" cy="1572768"/>
          </a:xfrm>
          <a:prstGeom prst="roundRect">
            <a:avLst>
              <a:gd name="adj" fmla="val 3488"/>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822960" y="4828032"/>
            <a:ext cx="182880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THE MOAT</a:t>
            </a:r>
            <a:endParaRPr lang="en-US" sz="1000" dirty="0"/>
          </a:p>
        </p:txBody>
      </p:sp>
      <p:sp>
        <p:nvSpPr>
          <p:cNvPr id="22" name="Text 20"/>
          <p:cNvSpPr txBox="1"/>
          <p:nvPr/>
        </p:nvSpPr>
        <p:spPr>
          <a:xfrm>
            <a:off x="822960" y="5120640"/>
            <a:ext cx="5029200" cy="320040"/>
          </a:xfrm>
          <a:prstGeom prst="rect">
            <a:avLst/>
          </a:prstGeom>
          <a:noFill/>
          <a:ln/>
        </p:spPr>
        <p:txBody>
          <a:bodyPr wrap="square" lIns="0" tIns="0" rIns="0" bIns="0" rtlCol="0" anchor="ctr"/>
          <a:lstStyle/>
          <a:p>
            <a:pPr indent="0" marL="0">
              <a:buNone/>
            </a:pPr>
            <a:r>
              <a:rPr lang="en-US" sz="1400" b="1" dirty="0">
                <a:solidFill>
                  <a:srgbClr val="F2F5F7"/>
                </a:solidFill>
                <a:latin typeface="Arial" pitchFamily="34" charset="0"/>
                <a:ea typeface="Arial" pitchFamily="34" charset="-122"/>
                <a:cs typeface="Arial" pitchFamily="34" charset="-120"/>
              </a:rPr>
              <a:t>Software features are copyable. Two things are not.</a:t>
            </a:r>
            <a:endParaRPr lang="en-US" sz="1400" dirty="0"/>
          </a:p>
        </p:txBody>
      </p:sp>
      <p:sp>
        <p:nvSpPr>
          <p:cNvPr id="23" name="Text 21"/>
          <p:cNvSpPr txBox="1"/>
          <p:nvPr/>
        </p:nvSpPr>
        <p:spPr>
          <a:xfrm>
            <a:off x="822960" y="5468112"/>
            <a:ext cx="502920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Every recommendation, stored with its model version, joined to what actually happened — the rate fixed, the days waited, the demurrage paid. Nobody else has this for India-bound bulk, because nobody else is in the decision loop.</a:t>
            </a:r>
            <a:endParaRPr lang="en-US" sz="1100" dirty="0"/>
          </a:p>
        </p:txBody>
      </p:sp>
      <p:sp>
        <p:nvSpPr>
          <p:cNvPr id="24" name="Text 22"/>
          <p:cNvSpPr txBox="1"/>
          <p:nvPr/>
        </p:nvSpPr>
        <p:spPr>
          <a:xfrm>
            <a:off x="6035040" y="5468112"/>
            <a:ext cx="557784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And the benchmark. Baltic-grade assessments exist for the world's liquid routes, not for Newcastle→Paradip. A platform inside enough Indian importers' fixture flow can construct the reference nobody publishes — and index businesses become infrastructure.</a:t>
            </a:r>
            <a:endParaRPr lang="en-US" sz="1100" dirty="0"/>
          </a:p>
        </p:txBody>
      </p:sp>
      <p:sp>
        <p:nvSpPr>
          <p:cNvPr id="26" name="Text 23"/>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
            <a:ext cx="7315200" cy="256032"/>
          </a:xfrm>
          <a:prstGeom prst="rect">
            <a:avLst/>
          </a:prstGeom>
          <a:noFill/>
          <a:ln/>
        </p:spPr>
        <p:txBody>
          <a:bodyPr wrap="square" lIns="0" tIns="0" rIns="0" bIns="0" rtlCol="0" anchor="ctr"/>
          <a:lstStyle/>
          <a:p>
            <a:pPr indent="0" marL="0">
              <a:buNone/>
            </a:pPr>
            <a:r>
              <a:rPr lang="en-US" sz="1050" spc="200" kern="0" dirty="0">
                <a:solidFill>
                  <a:srgbClr val="5C6D7A"/>
                </a:solidFill>
                <a:latin typeface="Courier New" pitchFamily="34" charset="0"/>
                <a:ea typeface="Courier New" pitchFamily="34" charset="-122"/>
                <a:cs typeface="Courier New" pitchFamily="34" charset="-120"/>
              </a:rPr>
              <a:t>15 / SCOPE DISCIPLINE</a:t>
            </a:r>
            <a:endParaRPr lang="en-US" sz="1050" dirty="0"/>
          </a:p>
        </p:txBody>
      </p:sp>
      <p:sp>
        <p:nvSpPr>
          <p:cNvPr id="3" name="Text 1"/>
          <p:cNvSpPr txBox="1"/>
          <p:nvPr/>
        </p:nvSpPr>
        <p:spPr>
          <a:xfrm>
            <a:off x="548640" y="640080"/>
            <a:ext cx="11064240" cy="603504"/>
          </a:xfrm>
          <a:prstGeom prst="rect">
            <a:avLst/>
          </a:prstGeom>
          <a:noFill/>
          <a:ln/>
        </p:spPr>
        <p:txBody>
          <a:bodyPr wrap="square" lIns="0" tIns="0" rIns="0" bIns="0" rtlCol="0" anchor="ctr"/>
          <a:lstStyle/>
          <a:p>
            <a:pPr indent="0" marL="0">
              <a:buNone/>
            </a:pPr>
            <a:r>
              <a:rPr lang="en-US" sz="3000" b="1" dirty="0">
                <a:solidFill>
                  <a:srgbClr val="F2F5F7"/>
                </a:solidFill>
                <a:latin typeface="Arial" pitchFamily="34" charset="0"/>
                <a:ea typeface="Arial" pitchFamily="34" charset="-122"/>
                <a:cs typeface="Arial" pitchFamily="34" charset="-120"/>
              </a:rPr>
              <a:t>What we built, and what we deliberately did not</a:t>
            </a:r>
            <a:endParaRPr lang="en-US" sz="3000" dirty="0"/>
          </a:p>
        </p:txBody>
      </p:sp>
      <p:sp>
        <p:nvSpPr>
          <p:cNvPr id="4" name="Text 2"/>
          <p:cNvSpPr txBox="1"/>
          <p:nvPr/>
        </p:nvSpPr>
        <p:spPr>
          <a:xfrm>
            <a:off x="548640" y="1335024"/>
            <a:ext cx="9966960" cy="402336"/>
          </a:xfrm>
          <a:prstGeom prst="rect">
            <a:avLst/>
          </a:prstGeom>
          <a:noFill/>
          <a:ln/>
        </p:spPr>
        <p:txBody>
          <a:bodyPr wrap="square" lIns="0" tIns="0" rIns="0" bIns="0" rtlCol="0" anchor="ctr"/>
          <a:lstStyle/>
          <a:p>
            <a:pPr indent="0" marL="0">
              <a:buNone/>
            </a:pPr>
            <a:r>
              <a:rPr lang="en-US" sz="1450" dirty="0">
                <a:solidFill>
                  <a:srgbClr val="8A9BA8"/>
                </a:solidFill>
                <a:latin typeface="Arial" pitchFamily="34" charset="0"/>
                <a:ea typeface="Arial" pitchFamily="34" charset="-122"/>
                <a:cs typeface="Arial" pitchFamily="34" charset="-120"/>
              </a:rPr>
              <a:t>Naming your exclusions is a credibility signal, not a weakness.</a:t>
            </a:r>
            <a:endParaRPr lang="en-US" sz="1450" dirty="0"/>
          </a:p>
        </p:txBody>
      </p:sp>
      <p:sp>
        <p:nvSpPr>
          <p:cNvPr id="5" name="Shape 3"/>
          <p:cNvSpPr/>
          <p:nvPr/>
        </p:nvSpPr>
        <p:spPr>
          <a:xfrm>
            <a:off x="548640" y="2148840"/>
            <a:ext cx="5577840" cy="3749040"/>
          </a:xfrm>
          <a:prstGeom prst="roundRect">
            <a:avLst>
              <a:gd name="adj" fmla="val 1463"/>
            </a:avLst>
          </a:prstGeom>
          <a:solidFill>
            <a:srgbClr val="18222B"/>
          </a:solidFill>
          <a:ln w="12700">
            <a:solidFill>
              <a:srgbClr val="18222B"/>
            </a:solidFill>
            <a:prstDash val="solid"/>
          </a:ln>
          <a:effectLst>
            <a:outerShdw sx="100000" sy="100000" kx="0" ky="0" algn="bl" rotWithShape="0" blurRad="127000" dist="25400" dir="5400000">
              <a:srgbClr val="000000">
                <a:alpha val="35000"/>
              </a:srgbClr>
            </a:outerShdw>
          </a:effectLst>
        </p:spPr>
      </p:sp>
      <p:sp>
        <p:nvSpPr>
          <p:cNvPr id="6" name="Text 4"/>
          <p:cNvSpPr txBox="1"/>
          <p:nvPr/>
        </p:nvSpPr>
        <p:spPr>
          <a:xfrm>
            <a:off x="822960" y="2331720"/>
            <a:ext cx="2743200" cy="274320"/>
          </a:xfrm>
          <a:prstGeom prst="rect">
            <a:avLst/>
          </a:prstGeom>
          <a:noFill/>
          <a:ln/>
        </p:spPr>
        <p:txBody>
          <a:bodyPr wrap="square" lIns="0" tIns="0" rIns="0" bIns="0" rtlCol="0" anchor="ctr"/>
          <a:lstStyle/>
          <a:p>
            <a:pPr indent="0" marL="0">
              <a:buNone/>
            </a:pPr>
            <a:r>
              <a:rPr lang="en-US" sz="1000" spc="120" kern="0" dirty="0">
                <a:solidFill>
                  <a:srgbClr val="4FD1C5"/>
                </a:solidFill>
                <a:latin typeface="Courier New" pitchFamily="34" charset="0"/>
                <a:ea typeface="Courier New" pitchFamily="34" charset="-122"/>
                <a:cs typeface="Courier New" pitchFamily="34" charset="-120"/>
              </a:rPr>
              <a:t>BUILT FOR SIH</a:t>
            </a:r>
            <a:endParaRPr lang="en-US" sz="1000" dirty="0"/>
          </a:p>
        </p:txBody>
      </p:sp>
      <p:sp>
        <p:nvSpPr>
          <p:cNvPr id="7" name="Text 5"/>
          <p:cNvSpPr txBox="1"/>
          <p:nvPr/>
        </p:nvSpPr>
        <p:spPr>
          <a:xfrm>
            <a:off x="822960" y="2670048"/>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Canonical port, vessel and cargo domain model</a:t>
            </a:r>
            <a:endParaRPr lang="en-US" sz="1050" dirty="0"/>
          </a:p>
        </p:txBody>
      </p:sp>
      <p:sp>
        <p:nvSpPr>
          <p:cNvPr id="8" name="Text 6"/>
          <p:cNvSpPr txBox="1"/>
          <p:nvPr/>
        </p:nvSpPr>
        <p:spPr>
          <a:xfrm>
            <a:off x="3520440" y="2670048"/>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Rate state with basis decomposition</a:t>
            </a:r>
            <a:endParaRPr lang="en-US" sz="1050" dirty="0"/>
          </a:p>
        </p:txBody>
      </p:sp>
      <p:sp>
        <p:nvSpPr>
          <p:cNvPr id="9" name="Text 7"/>
          <p:cNvSpPr txBox="1"/>
          <p:nvPr/>
        </p:nvSpPr>
        <p:spPr>
          <a:xfrm>
            <a:off x="822960" y="3099816"/>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Calibrated probabilistic forecasts</a:t>
            </a:r>
            <a:endParaRPr lang="en-US" sz="1050" dirty="0"/>
          </a:p>
        </p:txBody>
      </p:sp>
      <p:sp>
        <p:nvSpPr>
          <p:cNvPr id="10" name="Text 8"/>
          <p:cNvSpPr txBox="1"/>
          <p:nvPr/>
        </p:nvSpPr>
        <p:spPr>
          <a:xfrm>
            <a:off x="3520440" y="3099816"/>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Reservation-rate timing policy</a:t>
            </a:r>
            <a:endParaRPr lang="en-US" sz="1050" dirty="0"/>
          </a:p>
        </p:txBody>
      </p:sp>
      <p:sp>
        <p:nvSpPr>
          <p:cNvPr id="11" name="Text 9"/>
          <p:cNvSpPr txBox="1"/>
          <p:nvPr/>
        </p:nvSpPr>
        <p:spPr>
          <a:xfrm>
            <a:off x="822960" y="3529584"/>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Draft-limited cargo intake solver</a:t>
            </a:r>
            <a:endParaRPr lang="en-US" sz="1050" dirty="0"/>
          </a:p>
        </p:txBody>
      </p:sp>
      <p:sp>
        <p:nvSpPr>
          <p:cNvPr id="12" name="Text 10"/>
          <p:cNvSpPr txBox="1"/>
          <p:nvPr/>
        </p:nvSpPr>
        <p:spPr>
          <a:xfrm>
            <a:off x="3520440" y="3529584"/>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MILP vessel and port assignment</a:t>
            </a:r>
            <a:endParaRPr lang="en-US" sz="1050" dirty="0"/>
          </a:p>
        </p:txBody>
      </p:sp>
      <p:sp>
        <p:nvSpPr>
          <p:cNvPr id="13" name="Text 11"/>
          <p:cNvSpPr txBox="1"/>
          <p:nvPr/>
        </p:nvSpPr>
        <p:spPr>
          <a:xfrm>
            <a:off x="822960" y="3959352"/>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Full voyage economics and TCE</a:t>
            </a:r>
            <a:endParaRPr lang="en-US" sz="1050" dirty="0"/>
          </a:p>
        </p:txBody>
      </p:sp>
      <p:sp>
        <p:nvSpPr>
          <p:cNvPr id="14" name="Text 12"/>
          <p:cNvSpPr txBox="1"/>
          <p:nvPr/>
        </p:nvSpPr>
        <p:spPr>
          <a:xfrm>
            <a:off x="3520440" y="3959352"/>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Congestion and waiting nowcast</a:t>
            </a:r>
            <a:endParaRPr lang="en-US" sz="1050" dirty="0"/>
          </a:p>
        </p:txBody>
      </p:sp>
      <p:sp>
        <p:nvSpPr>
          <p:cNvPr id="15" name="Text 13"/>
          <p:cNvSpPr txBox="1"/>
          <p:nvPr/>
        </p:nvSpPr>
        <p:spPr>
          <a:xfrm>
            <a:off x="822960" y="4389120"/>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Idle and repositioning comparison</a:t>
            </a:r>
            <a:endParaRPr lang="en-US" sz="1050" dirty="0"/>
          </a:p>
        </p:txBody>
      </p:sp>
      <p:sp>
        <p:nvSpPr>
          <p:cNvPr id="16" name="Text 14"/>
          <p:cNvSpPr txBox="1"/>
          <p:nvPr/>
        </p:nvSpPr>
        <p:spPr>
          <a:xfrm>
            <a:off x="3520440" y="4389120"/>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Instrument portfolio on a CVaR frontier</a:t>
            </a:r>
            <a:endParaRPr lang="en-US" sz="1050" dirty="0"/>
          </a:p>
        </p:txBody>
      </p:sp>
      <p:sp>
        <p:nvSpPr>
          <p:cNvPr id="17" name="Text 15"/>
          <p:cNvSpPr txBox="1"/>
          <p:nvPr/>
        </p:nvSpPr>
        <p:spPr>
          <a:xfrm>
            <a:off x="822960" y="4818888"/>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Hedge sizing with basis risk</a:t>
            </a:r>
            <a:endParaRPr lang="en-US" sz="1050" dirty="0"/>
          </a:p>
        </p:txBody>
      </p:sp>
      <p:sp>
        <p:nvSpPr>
          <p:cNvPr id="18" name="Text 16"/>
          <p:cNvSpPr txBox="1"/>
          <p:nvPr/>
        </p:nvSpPr>
        <p:spPr>
          <a:xfrm>
            <a:off x="3520440" y="4818888"/>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Risk and disruption early warning</a:t>
            </a:r>
            <a:endParaRPr lang="en-US" sz="1050" dirty="0"/>
          </a:p>
        </p:txBody>
      </p:sp>
      <p:sp>
        <p:nvSpPr>
          <p:cNvPr id="19" name="Text 17"/>
          <p:cNvSpPr txBox="1"/>
          <p:nvPr/>
        </p:nvSpPr>
        <p:spPr>
          <a:xfrm>
            <a:off x="822960" y="5248656"/>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Decision memo with full provenance</a:t>
            </a:r>
            <a:endParaRPr lang="en-US" sz="1050" dirty="0"/>
          </a:p>
        </p:txBody>
      </p:sp>
      <p:sp>
        <p:nvSpPr>
          <p:cNvPr id="20" name="Text 18"/>
          <p:cNvSpPr txBox="1"/>
          <p:nvPr/>
        </p:nvSpPr>
        <p:spPr>
          <a:xfrm>
            <a:off x="3520440" y="5248656"/>
            <a:ext cx="2606040" cy="402336"/>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 Decision backtest harness</a:t>
            </a:r>
            <a:endParaRPr lang="en-US" sz="1050" dirty="0"/>
          </a:p>
        </p:txBody>
      </p:sp>
      <p:sp>
        <p:nvSpPr>
          <p:cNvPr id="21" name="Shape 19"/>
          <p:cNvSpPr/>
          <p:nvPr/>
        </p:nvSpPr>
        <p:spPr>
          <a:xfrm>
            <a:off x="6492240" y="2148840"/>
            <a:ext cx="5120640" cy="3749040"/>
          </a:xfrm>
          <a:prstGeom prst="roundRect">
            <a:avLst>
              <a:gd name="adj" fmla="val 1463"/>
            </a:avLst>
          </a:prstGeom>
          <a:solidFill>
            <a:srgbClr val="202D38"/>
          </a:solidFill>
          <a:ln w="12700">
            <a:solidFill>
              <a:srgbClr val="202D38"/>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6748272" y="2331720"/>
            <a:ext cx="3657600" cy="274320"/>
          </a:xfrm>
          <a:prstGeom prst="rect">
            <a:avLst/>
          </a:prstGeom>
          <a:noFill/>
          <a:ln/>
        </p:spPr>
        <p:txBody>
          <a:bodyPr wrap="square" lIns="0" tIns="0" rIns="0" bIns="0" rtlCol="0" anchor="ctr"/>
          <a:lstStyle/>
          <a:p>
            <a:pPr indent="0" marL="0">
              <a:buNone/>
            </a:pPr>
            <a:r>
              <a:rPr lang="en-US" sz="1000" spc="120" kern="0" dirty="0">
                <a:solidFill>
                  <a:srgbClr val="FF8A3D"/>
                </a:solidFill>
                <a:latin typeface="Courier New" pitchFamily="34" charset="0"/>
                <a:ea typeface="Courier New" pitchFamily="34" charset="-122"/>
                <a:cs typeface="Courier New" pitchFamily="34" charset="-120"/>
              </a:rPr>
              <a:t>DELIBERATELY OUT OF SCOPE</a:t>
            </a:r>
            <a:endParaRPr lang="en-US" sz="1000" dirty="0"/>
          </a:p>
        </p:txBody>
      </p:sp>
      <p:sp>
        <p:nvSpPr>
          <p:cNvPr id="23" name="Text 21"/>
          <p:cNvSpPr txBox="1"/>
          <p:nvPr/>
        </p:nvSpPr>
        <p:spPr>
          <a:xfrm>
            <a:off x="6748272" y="2697480"/>
            <a:ext cx="4617720" cy="274320"/>
          </a:xfrm>
          <a:prstGeom prst="rect">
            <a:avLst/>
          </a:prstGeom>
          <a:noFill/>
          <a:ln/>
        </p:spPr>
        <p:txBody>
          <a:bodyPr wrap="square" lIns="0" tIns="0" rIns="0" bIns="0" rtlCol="0" anchor="ctr"/>
          <a:lstStyle/>
          <a:p>
            <a:pPr indent="0" marL="0">
              <a:buNone/>
            </a:pPr>
            <a:r>
              <a:rPr lang="en-US" sz="1200" b="1" dirty="0">
                <a:solidFill>
                  <a:srgbClr val="F2F5F7"/>
                </a:solidFill>
                <a:latin typeface="Arial" pitchFamily="34" charset="0"/>
                <a:ea typeface="Arial" pitchFamily="34" charset="-122"/>
                <a:cs typeface="Arial" pitchFamily="34" charset="-120"/>
              </a:rPr>
              <a:t>Real-time global satellite AIS</a:t>
            </a:r>
            <a:endParaRPr lang="en-US" sz="1200" dirty="0"/>
          </a:p>
        </p:txBody>
      </p:sp>
      <p:sp>
        <p:nvSpPr>
          <p:cNvPr id="24" name="Text 22"/>
          <p:cNvSpPr txBox="1"/>
          <p:nvPr/>
        </p:nvSpPr>
        <p:spPr>
          <a:xfrm>
            <a:off x="6748272" y="2944368"/>
            <a:ext cx="4617720" cy="292608"/>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commercial only — we use free coastal and port-call data and say so</a:t>
            </a:r>
            <a:endParaRPr lang="en-US" sz="1050" dirty="0"/>
          </a:p>
        </p:txBody>
      </p:sp>
      <p:sp>
        <p:nvSpPr>
          <p:cNvPr id="25" name="Text 23"/>
          <p:cNvSpPr txBox="1"/>
          <p:nvPr/>
        </p:nvSpPr>
        <p:spPr>
          <a:xfrm>
            <a:off x="6748272" y="3319272"/>
            <a:ext cx="4617720" cy="274320"/>
          </a:xfrm>
          <a:prstGeom prst="rect">
            <a:avLst/>
          </a:prstGeom>
          <a:noFill/>
          <a:ln/>
        </p:spPr>
        <p:txBody>
          <a:bodyPr wrap="square" lIns="0" tIns="0" rIns="0" bIns="0" rtlCol="0" anchor="ctr"/>
          <a:lstStyle/>
          <a:p>
            <a:pPr indent="0" marL="0">
              <a:buNone/>
            </a:pPr>
            <a:r>
              <a:rPr lang="en-US" sz="1200" b="1" dirty="0">
                <a:solidFill>
                  <a:srgbClr val="F2F5F7"/>
                </a:solidFill>
                <a:latin typeface="Arial" pitchFamily="34" charset="0"/>
                <a:ea typeface="Arial" pitchFamily="34" charset="-122"/>
                <a:cs typeface="Arial" pitchFamily="34" charset="-120"/>
              </a:rPr>
              <a:t>Licensed route assessments</a:t>
            </a:r>
            <a:endParaRPr lang="en-US" sz="1200" dirty="0"/>
          </a:p>
        </p:txBody>
      </p:sp>
      <p:sp>
        <p:nvSpPr>
          <p:cNvPr id="26" name="Text 24"/>
          <p:cNvSpPr txBox="1"/>
          <p:nvPr/>
        </p:nvSpPr>
        <p:spPr>
          <a:xfrm>
            <a:off x="6748272" y="3566160"/>
            <a:ext cx="4617720" cy="292608"/>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paywalled, and we will not scrape</a:t>
            </a:r>
            <a:endParaRPr lang="en-US" sz="1050" dirty="0"/>
          </a:p>
        </p:txBody>
      </p:sp>
      <p:sp>
        <p:nvSpPr>
          <p:cNvPr id="27" name="Text 25"/>
          <p:cNvSpPr txBox="1"/>
          <p:nvPr/>
        </p:nvSpPr>
        <p:spPr>
          <a:xfrm>
            <a:off x="6748272" y="3941064"/>
            <a:ext cx="4617720" cy="274320"/>
          </a:xfrm>
          <a:prstGeom prst="rect">
            <a:avLst/>
          </a:prstGeom>
          <a:noFill/>
          <a:ln/>
        </p:spPr>
        <p:txBody>
          <a:bodyPr wrap="square" lIns="0" tIns="0" rIns="0" bIns="0" rtlCol="0" anchor="ctr"/>
          <a:lstStyle/>
          <a:p>
            <a:pPr indent="0" marL="0">
              <a:buNone/>
            </a:pPr>
            <a:r>
              <a:rPr lang="en-US" sz="1200" b="1" dirty="0">
                <a:solidFill>
                  <a:srgbClr val="F2F5F7"/>
                </a:solidFill>
                <a:latin typeface="Arial" pitchFamily="34" charset="0"/>
                <a:ea typeface="Arial" pitchFamily="34" charset="-122"/>
                <a:cs typeface="Arial" pitchFamily="34" charset="-120"/>
              </a:rPr>
              <a:t>Trade execution and clearing</a:t>
            </a:r>
            <a:endParaRPr lang="en-US" sz="1200" dirty="0"/>
          </a:p>
        </p:txBody>
      </p:sp>
      <p:sp>
        <p:nvSpPr>
          <p:cNvPr id="28" name="Text 26"/>
          <p:cNvSpPr txBox="1"/>
          <p:nvPr/>
        </p:nvSpPr>
        <p:spPr>
          <a:xfrm>
            <a:off x="6748272" y="4187952"/>
            <a:ext cx="4617720" cy="292608"/>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we advise; a human and a broker execute</a:t>
            </a:r>
            <a:endParaRPr lang="en-US" sz="1050" dirty="0"/>
          </a:p>
        </p:txBody>
      </p:sp>
      <p:sp>
        <p:nvSpPr>
          <p:cNvPr id="29" name="Text 27"/>
          <p:cNvSpPr txBox="1"/>
          <p:nvPr/>
        </p:nvSpPr>
        <p:spPr>
          <a:xfrm>
            <a:off x="6748272" y="4562856"/>
            <a:ext cx="4617720" cy="274320"/>
          </a:xfrm>
          <a:prstGeom prst="rect">
            <a:avLst/>
          </a:prstGeom>
          <a:noFill/>
          <a:ln/>
        </p:spPr>
        <p:txBody>
          <a:bodyPr wrap="square" lIns="0" tIns="0" rIns="0" bIns="0" rtlCol="0" anchor="ctr"/>
          <a:lstStyle/>
          <a:p>
            <a:pPr indent="0" marL="0">
              <a:buNone/>
            </a:pPr>
            <a:r>
              <a:rPr lang="en-US" sz="1200" b="1" dirty="0">
                <a:solidFill>
                  <a:srgbClr val="F2F5F7"/>
                </a:solidFill>
                <a:latin typeface="Arial" pitchFamily="34" charset="0"/>
                <a:ea typeface="Arial" pitchFamily="34" charset="-122"/>
                <a:cs typeface="Arial" pitchFamily="34" charset="-120"/>
              </a:rPr>
              <a:t>Charter party and laytime workflow</a:t>
            </a:r>
            <a:endParaRPr lang="en-US" sz="1200" dirty="0"/>
          </a:p>
        </p:txBody>
      </p:sp>
      <p:sp>
        <p:nvSpPr>
          <p:cNvPr id="30" name="Text 28"/>
          <p:cNvSpPr txBox="1"/>
          <p:nvPr/>
        </p:nvSpPr>
        <p:spPr>
          <a:xfrm>
            <a:off x="6748272" y="4809744"/>
            <a:ext cx="4617720" cy="292608"/>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adjacent, valuable, a different product</a:t>
            </a:r>
            <a:endParaRPr lang="en-US" sz="1050" dirty="0"/>
          </a:p>
        </p:txBody>
      </p:sp>
      <p:sp>
        <p:nvSpPr>
          <p:cNvPr id="31" name="Text 29"/>
          <p:cNvSpPr txBox="1"/>
          <p:nvPr/>
        </p:nvSpPr>
        <p:spPr>
          <a:xfrm>
            <a:off x="6748272" y="5184648"/>
            <a:ext cx="4617720" cy="274320"/>
          </a:xfrm>
          <a:prstGeom prst="rect">
            <a:avLst/>
          </a:prstGeom>
          <a:noFill/>
          <a:ln/>
        </p:spPr>
        <p:txBody>
          <a:bodyPr wrap="square" lIns="0" tIns="0" rIns="0" bIns="0" rtlCol="0" anchor="ctr"/>
          <a:lstStyle/>
          <a:p>
            <a:pPr indent="0" marL="0">
              <a:buNone/>
            </a:pPr>
            <a:r>
              <a:rPr lang="en-US" sz="1200" b="1" dirty="0">
                <a:solidFill>
                  <a:srgbClr val="F2F5F7"/>
                </a:solidFill>
                <a:latin typeface="Arial" pitchFamily="34" charset="0"/>
                <a:ea typeface="Arial" pitchFamily="34" charset="-122"/>
                <a:cs typeface="Arial" pitchFamily="34" charset="-120"/>
              </a:rPr>
              <a:t>Container, tanker, gas, breakbulk</a:t>
            </a:r>
            <a:endParaRPr lang="en-US" sz="1200" dirty="0"/>
          </a:p>
        </p:txBody>
      </p:sp>
      <p:sp>
        <p:nvSpPr>
          <p:cNvPr id="32" name="Text 30"/>
          <p:cNvSpPr txBox="1"/>
          <p:nvPr/>
        </p:nvSpPr>
        <p:spPr>
          <a:xfrm>
            <a:off x="6748272" y="5431536"/>
            <a:ext cx="4617720" cy="292608"/>
          </a:xfrm>
          <a:prstGeom prst="rect">
            <a:avLst/>
          </a:prstGeom>
          <a:noFill/>
          <a:ln/>
        </p:spPr>
        <p:txBody>
          <a:bodyPr wrap="square" lIns="0" tIns="0" rIns="0" bIns="0" rtlCol="0" anchor="ctr"/>
          <a:lstStyle/>
          <a:p>
            <a:pPr indent="0" marL="0">
              <a:buNone/>
            </a:pPr>
            <a:r>
              <a:rPr lang="en-US" sz="1050" dirty="0">
                <a:solidFill>
                  <a:srgbClr val="8A9BA8"/>
                </a:solidFill>
                <a:latin typeface="Arial" pitchFamily="34" charset="0"/>
                <a:ea typeface="Arial" pitchFamily="34" charset="-122"/>
                <a:cs typeface="Arial" pitchFamily="34" charset="-120"/>
              </a:rPr>
              <a:t>dry bulk only — focus is the point</a:t>
            </a:r>
            <a:endParaRPr lang="en-US" sz="1050" dirty="0"/>
          </a:p>
        </p:txBody>
      </p:sp>
      <p:sp>
        <p:nvSpPr>
          <p:cNvPr id="33" name="Text 31"/>
          <p:cNvSpPr txBox="1"/>
          <p:nvPr/>
        </p:nvSpPr>
        <p:spPr>
          <a:xfrm>
            <a:off x="6492240" y="5998464"/>
            <a:ext cx="5120640" cy="274320"/>
          </a:xfrm>
          <a:prstGeom prst="rect">
            <a:avLst/>
          </a:prstGeom>
          <a:noFill/>
          <a:ln/>
        </p:spPr>
        <p:txBody>
          <a:bodyPr wrap="square" lIns="0" tIns="0" rIns="0" bIns="0" rtlCol="0" anchor="ctr"/>
          <a:lstStyle/>
          <a:p>
            <a:pPr indent="0" marL="0">
              <a:buNone/>
            </a:pPr>
            <a:r>
              <a:rPr lang="en-US" sz="1100" i="1" dirty="0">
                <a:solidFill>
                  <a:srgbClr val="4FD1C5"/>
                </a:solidFill>
                <a:latin typeface="Arial" pitchFamily="34" charset="0"/>
                <a:ea typeface="Arial" pitchFamily="34" charset="-122"/>
                <a:cs typeface="Arial" pitchFamily="34" charset="-120"/>
              </a:rPr>
              <a:t>Rule: if it does not change the decision memo, it is not built before SIH.</a:t>
            </a:r>
            <a:endParaRPr lang="en-US" sz="1100" dirty="0"/>
          </a:p>
        </p:txBody>
      </p:sp>
      <p:sp>
        <p:nvSpPr>
          <p:cNvPr id="34" name="Text 32"/>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19"/>
        </a:solidFill>
      </p:bgPr>
    </p:bg>
    <p:spTree>
      <p:nvGrpSpPr>
        <p:cNvPr id="1" name=""/>
        <p:cNvGrpSpPr/>
        <p:nvPr/>
      </p:nvGrpSpPr>
      <p:grpSpPr>
        <a:xfrm>
          <a:off x="0" y="0"/>
          <a:ext cx="0" cy="0"/>
          <a:chOff x="0" y="0"/>
          <a:chExt cx="0" cy="0"/>
        </a:xfrm>
      </p:grpSpPr>
      <p:sp>
        <p:nvSpPr>
          <p:cNvPr id="2" name="Text 0"/>
          <p:cNvSpPr txBox="1"/>
          <p:nvPr/>
        </p:nvSpPr>
        <p:spPr>
          <a:xfrm>
            <a:off x="548640" y="2377440"/>
            <a:ext cx="10515600" cy="777240"/>
          </a:xfrm>
          <a:prstGeom prst="rect">
            <a:avLst/>
          </a:prstGeom>
          <a:noFill/>
          <a:ln/>
        </p:spPr>
        <p:txBody>
          <a:bodyPr wrap="square" lIns="0" tIns="0" rIns="0" bIns="0" rtlCol="0" anchor="ctr"/>
          <a:lstStyle/>
          <a:p>
            <a:pPr indent="0" marL="0">
              <a:buNone/>
            </a:pPr>
            <a:r>
              <a:rPr lang="en-US" sz="4000" b="1" dirty="0">
                <a:solidFill>
                  <a:srgbClr val="F2F5F7"/>
                </a:solidFill>
                <a:latin typeface="Arial" pitchFamily="34" charset="0"/>
                <a:ea typeface="Arial" pitchFamily="34" charset="-122"/>
                <a:cs typeface="Arial" pitchFamily="34" charset="-120"/>
              </a:rPr>
              <a:t>Freight stops being a daily purchase</a:t>
            </a:r>
            <a:endParaRPr lang="en-US" sz="4000" dirty="0"/>
          </a:p>
        </p:txBody>
      </p:sp>
      <p:sp>
        <p:nvSpPr>
          <p:cNvPr id="3" name="Text 1"/>
          <p:cNvSpPr txBox="1"/>
          <p:nvPr/>
        </p:nvSpPr>
        <p:spPr>
          <a:xfrm>
            <a:off x="548640" y="3154680"/>
            <a:ext cx="10515600" cy="777240"/>
          </a:xfrm>
          <a:prstGeom prst="rect">
            <a:avLst/>
          </a:prstGeom>
          <a:noFill/>
          <a:ln/>
        </p:spPr>
        <p:txBody>
          <a:bodyPr wrap="square" lIns="0" tIns="0" rIns="0" bIns="0" rtlCol="0" anchor="ctr"/>
          <a:lstStyle/>
          <a:p>
            <a:pPr indent="0" marL="0">
              <a:buNone/>
            </a:pPr>
            <a:r>
              <a:rPr lang="en-US" sz="4000" b="1" dirty="0">
                <a:solidFill>
                  <a:srgbClr val="FF8A3D"/>
                </a:solidFill>
                <a:latin typeface="Arial" pitchFamily="34" charset="0"/>
                <a:ea typeface="Arial" pitchFamily="34" charset="-122"/>
                <a:cs typeface="Arial" pitchFamily="34" charset="-120"/>
              </a:rPr>
              <a:t>and becomes a managed position.</a:t>
            </a:r>
            <a:endParaRPr lang="en-US" sz="4000" dirty="0"/>
          </a:p>
        </p:txBody>
      </p:sp>
      <p:sp>
        <p:nvSpPr>
          <p:cNvPr id="4" name="Text 2"/>
          <p:cNvSpPr txBox="1"/>
          <p:nvPr/>
        </p:nvSpPr>
        <p:spPr>
          <a:xfrm>
            <a:off x="548640" y="4572000"/>
            <a:ext cx="2560320" cy="54864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A threshold, not an arrow</a:t>
            </a:r>
            <a:endParaRPr lang="en-US" sz="1300" dirty="0"/>
          </a:p>
        </p:txBody>
      </p:sp>
      <p:sp>
        <p:nvSpPr>
          <p:cNvPr id="5" name="Text 3"/>
          <p:cNvSpPr txBox="1"/>
          <p:nvPr/>
        </p:nvSpPr>
        <p:spPr>
          <a:xfrm>
            <a:off x="548640" y="5120640"/>
            <a:ext cx="256032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optimal stopping over the laycan window</a:t>
            </a:r>
            <a:endParaRPr lang="en-US" sz="1100" dirty="0"/>
          </a:p>
        </p:txBody>
      </p:sp>
      <p:sp>
        <p:nvSpPr>
          <p:cNvPr id="6" name="Text 4"/>
          <p:cNvSpPr txBox="1"/>
          <p:nvPr/>
        </p:nvSpPr>
        <p:spPr>
          <a:xfrm>
            <a:off x="3337560" y="4572000"/>
            <a:ext cx="2560320" cy="54864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Port physics as a constraint</a:t>
            </a:r>
            <a:endParaRPr lang="en-US" sz="1300" dirty="0"/>
          </a:p>
        </p:txBody>
      </p:sp>
      <p:sp>
        <p:nvSpPr>
          <p:cNvPr id="7" name="Text 5"/>
          <p:cNvSpPr txBox="1"/>
          <p:nvPr/>
        </p:nvSpPr>
        <p:spPr>
          <a:xfrm>
            <a:off x="3337560" y="5120640"/>
            <a:ext cx="256032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draft-limited intake, not a lookup table</a:t>
            </a:r>
            <a:endParaRPr lang="en-US" sz="1100" dirty="0"/>
          </a:p>
        </p:txBody>
      </p:sp>
      <p:sp>
        <p:nvSpPr>
          <p:cNvPr id="8" name="Text 6"/>
          <p:cNvSpPr txBox="1"/>
          <p:nvPr/>
        </p:nvSpPr>
        <p:spPr>
          <a:xfrm>
            <a:off x="6126480" y="4572000"/>
            <a:ext cx="2560320" cy="54864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An instrument and a hedge</a:t>
            </a:r>
            <a:endParaRPr lang="en-US" sz="1300" dirty="0"/>
          </a:p>
        </p:txBody>
      </p:sp>
      <p:sp>
        <p:nvSpPr>
          <p:cNvPr id="9" name="Text 7"/>
          <p:cNvSpPr txBox="1"/>
          <p:nvPr/>
        </p:nvSpPr>
        <p:spPr>
          <a:xfrm>
            <a:off x="6126480" y="5120640"/>
            <a:ext cx="256032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the layer nobody sells this buyer</a:t>
            </a:r>
            <a:endParaRPr lang="en-US" sz="1100" dirty="0"/>
          </a:p>
        </p:txBody>
      </p:sp>
      <p:sp>
        <p:nvSpPr>
          <p:cNvPr id="10" name="Text 8"/>
          <p:cNvSpPr txBox="1"/>
          <p:nvPr/>
        </p:nvSpPr>
        <p:spPr>
          <a:xfrm>
            <a:off x="8915400" y="4572000"/>
            <a:ext cx="2560320" cy="548640"/>
          </a:xfrm>
          <a:prstGeom prst="rect">
            <a:avLst/>
          </a:prstGeom>
          <a:noFill/>
          <a:ln/>
        </p:spPr>
        <p:txBody>
          <a:bodyPr wrap="square" lIns="0" tIns="0" rIns="0" bIns="0" rtlCol="0" anchor="ctr"/>
          <a:lstStyle/>
          <a:p>
            <a:pPr indent="0" marL="0">
              <a:buNone/>
            </a:pPr>
            <a:r>
              <a:rPr lang="en-US" sz="1300" b="1" dirty="0">
                <a:solidFill>
                  <a:srgbClr val="F2F5F7"/>
                </a:solidFill>
                <a:latin typeface="Arial" pitchFamily="34" charset="0"/>
                <a:ea typeface="Arial" pitchFamily="34" charset="-122"/>
                <a:cs typeface="Arial" pitchFamily="34" charset="-120"/>
              </a:rPr>
              <a:t>Backtested in money</a:t>
            </a:r>
            <a:endParaRPr lang="en-US" sz="1300" dirty="0"/>
          </a:p>
        </p:txBody>
      </p:sp>
      <p:sp>
        <p:nvSpPr>
          <p:cNvPr id="11" name="Text 9"/>
          <p:cNvSpPr txBox="1"/>
          <p:nvPr/>
        </p:nvSpPr>
        <p:spPr>
          <a:xfrm>
            <a:off x="8915400" y="5120640"/>
            <a:ext cx="2560320" cy="548640"/>
          </a:xfrm>
          <a:prstGeom prst="rect">
            <a:avLst/>
          </a:prstGeom>
          <a:noFill/>
          <a:ln/>
        </p:spPr>
        <p:txBody>
          <a:bodyPr wrap="square" lIns="0" tIns="0" rIns="0" bIns="0" rtlCol="0" anchor="ctr"/>
          <a:lstStyle/>
          <a:p>
            <a:pPr indent="0" marL="0">
              <a:buNone/>
            </a:pPr>
            <a:r>
              <a:rPr lang="en-US" sz="1100" dirty="0">
                <a:solidFill>
                  <a:srgbClr val="8A9BA8"/>
                </a:solidFill>
                <a:latin typeface="Arial" pitchFamily="34" charset="0"/>
                <a:ea typeface="Arial" pitchFamily="34" charset="-122"/>
                <a:cs typeface="Arial" pitchFamily="34" charset="-120"/>
              </a:rPr>
              <a:t>capture ratio, with the worst quarter shown</a:t>
            </a:r>
            <a:endParaRPr lang="en-US" sz="1100" dirty="0"/>
          </a:p>
        </p:txBody>
      </p:sp>
      <p:sp>
        <p:nvSpPr>
          <p:cNvPr id="12" name="Text 10"/>
          <p:cNvSpPr txBox="1"/>
          <p:nvPr/>
        </p:nvSpPr>
        <p:spPr>
          <a:xfrm>
            <a:off x="548640" y="6035040"/>
            <a:ext cx="7315200" cy="274320"/>
          </a:xfrm>
          <a:prstGeom prst="rect">
            <a:avLst/>
          </a:prstGeom>
          <a:noFill/>
          <a:ln/>
        </p:spPr>
        <p:txBody>
          <a:bodyPr wrap="square" lIns="0" tIns="0" rIns="0" bIns="0" rtlCol="0" anchor="ctr"/>
          <a:lstStyle/>
          <a:p>
            <a:pPr indent="0" marL="0">
              <a:buNone/>
            </a:pPr>
            <a:r>
              <a:rPr lang="en-US" sz="1050" spc="150" kern="0" dirty="0">
                <a:solidFill>
                  <a:srgbClr val="5C6D7A"/>
                </a:solidFill>
                <a:latin typeface="Courier New" pitchFamily="34" charset="0"/>
                <a:ea typeface="Courier New" pitchFamily="34" charset="-122"/>
                <a:cs typeface="Courier New" pitchFamily="34" charset="-120"/>
              </a:rPr>
              <a:t>LAYCAN  ·  PS 26006  ·  Ministry of Steel / SAIL</a:t>
            </a:r>
            <a:endParaRPr lang="en-US" sz="1050" dirty="0"/>
          </a:p>
        </p:txBody>
      </p:sp>
      <p:sp>
        <p:nvSpPr>
          <p:cNvPr id="13" name="Text 11"/>
          <p:cNvSpPr txBox="1"/>
          <p:nvPr/>
        </p:nvSpPr>
        <p:spPr>
          <a:xfrm>
            <a:off x="11155680" y="6345936"/>
            <a:ext cx="457200" cy="274320"/>
          </a:xfrm>
          <a:prstGeom prst="rect">
            <a:avLst/>
          </a:prstGeom>
          <a:noFill/>
          <a:ln/>
        </p:spPr>
        <p:txBody>
          <a:bodyPr wrap="square" lIns="0" tIns="0" rIns="0" bIns="0" rtlCol="0" anchor="ctr"/>
          <a:lstStyle/>
          <a:p>
            <a:pPr algn="r" indent="0" marL="0">
              <a:buNone/>
            </a:pPr>
            <a:r>
              <a:rPr lang="en-US" sz="900" dirty="0">
                <a:solidFill>
                  <a:srgbClr val="5C6D7A"/>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LAYCAN — Freight Decision Engine</dc:title>
  <dc:subject>PptxGenJS Presentation</dc:subject>
  <dc:creator>Team LAYCAN</dc:creator>
  <cp:lastModifiedBy>Team LAYCAN</cp:lastModifiedBy>
  <cp:revision>1</cp:revision>
  <dcterms:created xsi:type="dcterms:W3CDTF">2026-09-02T14:40:13Z</dcterms:created>
  <dcterms:modified xsi:type="dcterms:W3CDTF">2026-09-02T14:40:13Z</dcterms:modified>
</cp:coreProperties>
</file>